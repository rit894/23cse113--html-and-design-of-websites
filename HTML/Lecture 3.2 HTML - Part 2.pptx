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82" r:id="rId5"/>
    <p:sldId id="259" r:id="rId6"/>
    <p:sldId id="261" r:id="rId7"/>
    <p:sldId id="262" r:id="rId8"/>
    <p:sldId id="263" r:id="rId9"/>
    <p:sldId id="264" r:id="rId10"/>
    <p:sldId id="28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8" r:id="rId22"/>
    <p:sldId id="279" r:id="rId23"/>
    <p:sldId id="275" r:id="rId24"/>
    <p:sldId id="276" r:id="rId25"/>
    <p:sldId id="302" r:id="rId26"/>
    <p:sldId id="281" r:id="rId27"/>
    <p:sldId id="285" r:id="rId28"/>
    <p:sldId id="288" r:id="rId29"/>
    <p:sldId id="290" r:id="rId30"/>
    <p:sldId id="332" r:id="rId31"/>
    <p:sldId id="292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293" r:id="rId40"/>
    <p:sldId id="336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13" r:id="rId50"/>
    <p:sldId id="320" r:id="rId51"/>
    <p:sldId id="321" r:id="rId52"/>
    <p:sldId id="322" r:id="rId53"/>
    <p:sldId id="326" r:id="rId54"/>
    <p:sldId id="327" r:id="rId55"/>
    <p:sldId id="328" r:id="rId56"/>
    <p:sldId id="329" r:id="rId57"/>
    <p:sldId id="330" r:id="rId58"/>
    <p:sldId id="338" r:id="rId59"/>
    <p:sldId id="339" r:id="rId60"/>
    <p:sldId id="337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20AF4-52EC-4549-B7E1-21F6843A3B4A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2B0B3-764C-4BC3-8D24-E983EA5448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0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*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07/16/96</a:t>
            </a:r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3013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B2A665-42F2-4E36-BE71-444D4591CC32}" type="slidenum">
              <a:rPr lang="en-US"/>
              <a:pPr>
                <a:defRPr/>
              </a:pPr>
              <a:t>9</a:t>
            </a:fld>
            <a:r>
              <a:rPr lang="en-US" dirty="0"/>
              <a:t>##</a:t>
            </a:r>
          </a:p>
        </p:txBody>
      </p:sp>
      <p:sp>
        <p:nvSpPr>
          <p:cNvPr id="2887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87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*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07/16/96</a:t>
            </a:r>
          </a:p>
        </p:txBody>
      </p:sp>
      <p:sp>
        <p:nvSpPr>
          <p:cNvPr id="45060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5061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C55383-3FAF-440E-BC69-84AB5F3D63D3}" type="slidenum">
              <a:rPr lang="en-US"/>
              <a:pPr>
                <a:defRPr/>
              </a:pPr>
              <a:t>15</a:t>
            </a:fld>
            <a:r>
              <a:rPr lang="en-US" dirty="0"/>
              <a:t>##</a:t>
            </a:r>
          </a:p>
        </p:txBody>
      </p:sp>
      <p:sp>
        <p:nvSpPr>
          <p:cNvPr id="2897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97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*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07/16/96</a:t>
            </a:r>
          </a:p>
        </p:txBody>
      </p:sp>
      <p:sp>
        <p:nvSpPr>
          <p:cNvPr id="4915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915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FB7EEE-804C-4832-B50B-37006D3C221F}" type="slidenum">
              <a:rPr lang="en-US"/>
              <a:pPr>
                <a:defRPr/>
              </a:pPr>
              <a:t>16</a:t>
            </a:fld>
            <a:r>
              <a:rPr lang="en-US" dirty="0"/>
              <a:t>##</a:t>
            </a:r>
          </a:p>
        </p:txBody>
      </p:sp>
      <p:sp>
        <p:nvSpPr>
          <p:cNvPr id="2908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08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*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07/16/96</a:t>
            </a:r>
          </a:p>
        </p:txBody>
      </p:sp>
      <p:sp>
        <p:nvSpPr>
          <p:cNvPr id="50180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0181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BB9A12-47C3-4580-BAA5-C72A9638002B}" type="slidenum">
              <a:rPr lang="en-US"/>
              <a:pPr>
                <a:defRPr/>
              </a:pPr>
              <a:t>17</a:t>
            </a:fld>
            <a:r>
              <a:rPr lang="en-US" dirty="0"/>
              <a:t>##</a:t>
            </a:r>
          </a:p>
        </p:txBody>
      </p:sp>
      <p:sp>
        <p:nvSpPr>
          <p:cNvPr id="2918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18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*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07/16/96</a:t>
            </a:r>
          </a:p>
        </p:txBody>
      </p:sp>
      <p:sp>
        <p:nvSpPr>
          <p:cNvPr id="53252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3253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61ED5F-F986-4328-864B-17148F4C3FBF}" type="slidenum">
              <a:rPr lang="en-US"/>
              <a:pPr>
                <a:defRPr/>
              </a:pPr>
              <a:t>18</a:t>
            </a:fld>
            <a:r>
              <a:rPr lang="en-US" dirty="0"/>
              <a:t>##</a:t>
            </a:r>
          </a:p>
        </p:txBody>
      </p:sp>
      <p:sp>
        <p:nvSpPr>
          <p:cNvPr id="292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28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*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07/16/96</a:t>
            </a:r>
          </a:p>
        </p:txBody>
      </p:sp>
      <p:sp>
        <p:nvSpPr>
          <p:cNvPr id="5427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096E39-FC84-4298-8C65-8DCEE0C0D2E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r>
              <a:rPr lang="en-US" dirty="0">
                <a:solidFill>
                  <a:prstClr val="black"/>
                </a:solidFill>
              </a:rPr>
              <a:t>##</a:t>
            </a:r>
          </a:p>
        </p:txBody>
      </p:sp>
      <p:sp>
        <p:nvSpPr>
          <p:cNvPr id="2938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38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bg-BG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77894-3439-4C68-9FF3-1E53650128D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72FDBE-A151-4963-AC4B-7B546F2CD42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AEEB67-F0DD-452D-B727-1AF46BBE818A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6D43D4-64D7-4DC7-A37B-B7C259EBEC2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FE54DA-9A0B-41AE-94E6-4553BF78C725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608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550328-F132-4E14-A213-3E33E2EDADBC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B5DF3D-99F4-4EEE-B5B5-BD7EFBF229F2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0E034E-898B-4EFD-9ED1-E6B8CAD4D4CD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70C10F-F748-48FB-A3CD-682B39CA0AF5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406032-6B1E-46D6-B2A1-572A055B29D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51EF1-0A30-4A16-8EF2-460B794A0A71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– Part 2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1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Making nested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36576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……………………….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ul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&lt;li&gt;</a:t>
            </a:r>
          </a:p>
          <a:p>
            <a:pPr marL="0" indent="0">
              <a:buNone/>
            </a:pPr>
            <a:r>
              <a:rPr lang="en-US" sz="2400" dirty="0"/>
              <a:t>&lt;h3&gt;USA&lt;/h3&gt;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ol</a:t>
            </a:r>
            <a:r>
              <a:rPr lang="en-US" sz="2400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&lt;li&gt;Tigger&lt;/li&gt;</a:t>
            </a:r>
          </a:p>
          <a:p>
            <a:pPr marL="400050" lvl="1" indent="0">
              <a:buNone/>
            </a:pPr>
            <a:r>
              <a:rPr lang="en-US" dirty="0"/>
              <a:t>&lt;li&gt;Tiger&lt;/li&gt;</a:t>
            </a:r>
          </a:p>
          <a:p>
            <a:pPr marL="400050" lvl="1" indent="0">
              <a:buNone/>
            </a:pPr>
            <a:r>
              <a:rPr lang="en-US" dirty="0"/>
              <a:t>&lt;li&gt;Max&lt;/li&gt;</a:t>
            </a:r>
          </a:p>
          <a:p>
            <a:pPr marL="400050" lvl="1" indent="0">
              <a:buNone/>
            </a:pPr>
            <a:r>
              <a:rPr lang="en-US" dirty="0"/>
              <a:t>&lt;li&gt;Smokey&lt;/li&gt;</a:t>
            </a:r>
          </a:p>
          <a:p>
            <a:pPr marL="400050" lvl="1" indent="0">
              <a:buNone/>
            </a:pPr>
            <a:r>
              <a:rPr lang="en-US" dirty="0"/>
              <a:t>&lt;li&gt;Sam&lt;/li&gt;</a:t>
            </a:r>
          </a:p>
          <a:p>
            <a:pPr marL="0" indent="0">
              <a:buNone/>
            </a:pPr>
            <a:r>
              <a:rPr lang="en-US" sz="2400" dirty="0"/>
              <a:t>&lt;/</a:t>
            </a:r>
            <a:r>
              <a:rPr lang="en-US" sz="2400" dirty="0" err="1"/>
              <a:t>ol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&lt;/li&gt;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114800" y="1295400"/>
            <a:ext cx="4343400" cy="472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&lt;li&gt;</a:t>
            </a:r>
          </a:p>
          <a:p>
            <a:pPr marL="0" indent="0">
              <a:buNone/>
            </a:pPr>
            <a:r>
              <a:rPr lang="en-US" dirty="0"/>
              <a:t>&lt;h3&gt;Australia&lt;/h3&gt;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800100" lvl="2" indent="0">
              <a:buNone/>
            </a:pPr>
            <a:r>
              <a:rPr lang="en-US" dirty="0"/>
              <a:t>&lt;li&gt;Oscar&lt;/li&gt;</a:t>
            </a:r>
          </a:p>
          <a:p>
            <a:pPr marL="800100" lvl="2" indent="0">
              <a:buNone/>
            </a:pPr>
            <a:r>
              <a:rPr lang="en-US" dirty="0"/>
              <a:t>&lt;li&gt;Max&lt;/li&gt;</a:t>
            </a:r>
          </a:p>
          <a:p>
            <a:pPr marL="800100" lvl="2" indent="0">
              <a:buNone/>
            </a:pPr>
            <a:r>
              <a:rPr lang="en-US" dirty="0"/>
              <a:t>&lt;li&gt;Tiger&lt;/li&gt;</a:t>
            </a:r>
          </a:p>
          <a:p>
            <a:pPr marL="800100" lvl="2" indent="0">
              <a:buNone/>
            </a:pPr>
            <a:r>
              <a:rPr lang="en-US" dirty="0"/>
              <a:t>&lt;li&gt;Sam&lt;/li&gt;</a:t>
            </a:r>
          </a:p>
          <a:p>
            <a:pPr marL="800100" lvl="2" indent="0">
              <a:buNone/>
            </a:pPr>
            <a:r>
              <a:rPr lang="en-US" dirty="0"/>
              <a:t>&lt;li&gt;Misty&lt;/li&gt;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&lt;/li&gt;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4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Building Tables -- </a:t>
            </a:r>
            <a:r>
              <a:rPr lang="en-US" dirty="0"/>
              <a:t>data that fits best in a tabular format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&lt;table&gt;&lt;/table&gt; -- used to indent and space your code carefully so you can see the structure of the table in the code.</a:t>
            </a:r>
          </a:p>
          <a:p>
            <a:r>
              <a:rPr lang="en-US" dirty="0"/>
              <a:t>By default (in most browsers, anyway), tables don’t show their borders.</a:t>
            </a:r>
          </a:p>
          <a:p>
            <a:r>
              <a:rPr lang="en-US" dirty="0"/>
              <a:t>If you want to see basic table borders, you can turn on the table’s border attribute. </a:t>
            </a:r>
          </a:p>
          <a:p>
            <a:r>
              <a:rPr lang="en-US" dirty="0"/>
              <a:t>&lt;table border = "1"&gt;</a:t>
            </a:r>
          </a:p>
        </p:txBody>
      </p:sp>
    </p:spTree>
    <p:extLst>
      <p:ext uri="{BB962C8B-B14F-4D97-AF65-F5344CB8AC3E}">
        <p14:creationId xmlns:p14="http://schemas.microsoft.com/office/powerpoint/2010/main" val="8735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 in Tables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875499"/>
              </p:ext>
            </p:extLst>
          </p:nvPr>
        </p:nvGraphicFramePr>
        <p:xfrm>
          <a:off x="838200" y="1676400"/>
          <a:ext cx="7162800" cy="44047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2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26">
                <a:tc>
                  <a:txBody>
                    <a:bodyPr/>
                    <a:lstStyle/>
                    <a:p>
                      <a:r>
                        <a:rPr lang="en-US" sz="2400" dirty="0"/>
                        <a:t>HTML Tags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Descriptions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26">
                <a:tc>
                  <a:txBody>
                    <a:bodyPr/>
                    <a:lstStyle/>
                    <a:p>
                      <a:r>
                        <a:rPr lang="en-US" sz="2400"/>
                        <a:t>&lt;table&gt;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Define a table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26">
                <a:tc>
                  <a:txBody>
                    <a:bodyPr/>
                    <a:lstStyle/>
                    <a:p>
                      <a:r>
                        <a:rPr lang="en-US" sz="2400"/>
                        <a:t>&lt;tr&gt;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Define a table row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26">
                <a:tc>
                  <a:txBody>
                    <a:bodyPr/>
                    <a:lstStyle/>
                    <a:p>
                      <a:r>
                        <a:rPr lang="en-US" sz="2400"/>
                        <a:t>&lt;td&gt;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Define a table cell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75">
                <a:tc>
                  <a:txBody>
                    <a:bodyPr/>
                    <a:lstStyle/>
                    <a:p>
                      <a:r>
                        <a:rPr lang="en-US" sz="2400"/>
                        <a:t>&lt;th&gt;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Define a table header cell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75">
                <a:tc>
                  <a:txBody>
                    <a:bodyPr/>
                    <a:lstStyle/>
                    <a:p>
                      <a:r>
                        <a:rPr lang="en-US" sz="2400"/>
                        <a:t>&lt;thead&gt;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Define a group of a table header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75">
                <a:tc>
                  <a:txBody>
                    <a:bodyPr/>
                    <a:lstStyle/>
                    <a:p>
                      <a:r>
                        <a:rPr lang="en-US" sz="2400"/>
                        <a:t>&lt;tbody&gt;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Define a group of a table body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175">
                <a:tc>
                  <a:txBody>
                    <a:bodyPr/>
                    <a:lstStyle/>
                    <a:p>
                      <a:r>
                        <a:rPr lang="en-US" sz="2400"/>
                        <a:t>&lt;tfooter&gt;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Define a group of a table footer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9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Adding  first 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Each row is indicated by a &lt;</a:t>
            </a:r>
            <a:r>
              <a:rPr lang="en-US" dirty="0" err="1"/>
              <a:t>tr</a:t>
            </a:r>
            <a:r>
              <a:rPr lang="en-US" dirty="0"/>
              <a:t>&gt;&lt;/</a:t>
            </a:r>
            <a:r>
              <a:rPr lang="en-US" dirty="0" err="1"/>
              <a:t>tr</a:t>
            </a:r>
            <a:r>
              <a:rPr lang="en-US" dirty="0"/>
              <a:t>&gt; pair.</a:t>
            </a:r>
          </a:p>
          <a:p>
            <a:r>
              <a:rPr lang="en-US" dirty="0"/>
              <a:t>Inside the &lt;</a:t>
            </a:r>
            <a:r>
              <a:rPr lang="en-US" dirty="0" err="1"/>
              <a:t>tr</a:t>
            </a:r>
            <a:r>
              <a:rPr lang="en-US" dirty="0"/>
              <a:t>&gt;&lt;/</a:t>
            </a:r>
            <a:r>
              <a:rPr lang="en-US" dirty="0" err="1"/>
              <a:t>tr</a:t>
            </a:r>
            <a:r>
              <a:rPr lang="en-US" dirty="0"/>
              <a:t>&gt; set, you need some table data. </a:t>
            </a:r>
          </a:p>
          <a:p>
            <a:r>
              <a:rPr lang="en-US" dirty="0"/>
              <a:t>The first row often consists of </a:t>
            </a:r>
            <a:r>
              <a:rPr lang="en-US" i="1" dirty="0"/>
              <a:t>table headers. </a:t>
            </a:r>
            <a:r>
              <a:rPr lang="en-US" dirty="0"/>
              <a:t>These special cells are formatted differently to indicate that they’re labels, rather than data.</a:t>
            </a:r>
          </a:p>
          <a:p>
            <a:r>
              <a:rPr lang="en-US" dirty="0"/>
              <a:t>the table headers between the &lt;</a:t>
            </a:r>
            <a:r>
              <a:rPr lang="en-US" dirty="0" err="1"/>
              <a:t>th</a:t>
            </a:r>
            <a:r>
              <a:rPr lang="en-US" dirty="0"/>
              <a:t>&gt; and &lt;/</a:t>
            </a:r>
            <a:r>
              <a:rPr lang="en-US" dirty="0" err="1"/>
              <a:t>th</a:t>
            </a:r>
            <a:r>
              <a:rPr lang="en-US" dirty="0"/>
              <a:t>&gt; elements. The contents appear in the order they’re defined.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800100" lvl="2" indent="0">
              <a:buNone/>
            </a:pPr>
            <a:r>
              <a:rPr lang="en-US" dirty="0"/>
              <a:t>&lt;</a:t>
            </a:r>
            <a:r>
              <a:rPr lang="en-US" dirty="0" err="1"/>
              <a:t>th</a:t>
            </a:r>
            <a:r>
              <a:rPr lang="en-US" dirty="0"/>
              <a:t>&gt; </a:t>
            </a:r>
            <a:r>
              <a:rPr lang="en-US" dirty="0" err="1"/>
              <a:t>Slno</a:t>
            </a:r>
            <a:r>
              <a:rPr lang="en-US" dirty="0"/>
              <a:t> 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pPr marL="800100" lvl="2" indent="0">
              <a:buNone/>
            </a:pPr>
            <a:r>
              <a:rPr lang="en-US" dirty="0"/>
              <a:t>&lt;</a:t>
            </a:r>
            <a:r>
              <a:rPr lang="en-US" dirty="0" err="1"/>
              <a:t>th</a:t>
            </a:r>
            <a:r>
              <a:rPr lang="en-US" dirty="0"/>
              <a:t>&gt; </a:t>
            </a:r>
            <a:r>
              <a:rPr lang="en-US" dirty="0" err="1"/>
              <a:t>Regno</a:t>
            </a:r>
            <a:r>
              <a:rPr lang="en-US" dirty="0"/>
              <a:t> 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pPr marL="800100" lvl="2" indent="0">
              <a:buNone/>
            </a:pPr>
            <a:r>
              <a:rPr lang="en-US" dirty="0"/>
              <a:t>&lt;</a:t>
            </a:r>
            <a:r>
              <a:rPr lang="en-US" dirty="0" err="1"/>
              <a:t>th</a:t>
            </a:r>
            <a:r>
              <a:rPr lang="en-US" dirty="0"/>
              <a:t>&gt;  Name 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0209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Making data rows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rows are just like the heading row, except they use &lt;td&gt;&lt;/td&gt; pairs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800100" lvl="2" indent="0">
              <a:buNone/>
            </a:pPr>
            <a:r>
              <a:rPr lang="en-US" dirty="0"/>
              <a:t>&lt;td&gt; 1&lt;/td&gt;</a:t>
            </a:r>
          </a:p>
          <a:p>
            <a:pPr marL="800100" lvl="2" indent="0">
              <a:buNone/>
            </a:pPr>
            <a:r>
              <a:rPr lang="en-US" dirty="0"/>
              <a:t>&lt;td&gt; 19CSE901 &lt;/td&gt;</a:t>
            </a:r>
          </a:p>
          <a:p>
            <a:pPr marL="800100" lvl="2" indent="0">
              <a:buNone/>
            </a:pPr>
            <a:r>
              <a:rPr lang="en-US" dirty="0"/>
              <a:t>&lt;td&gt; Ram &lt;/td&gt;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4799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04800" y="914400"/>
            <a:ext cx="4191000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&lt;h1&gt;A Basic Table&lt;/h1&gt;</a:t>
            </a:r>
          </a:p>
          <a:p>
            <a:pPr marL="0" indent="0">
              <a:buNone/>
            </a:pPr>
            <a:r>
              <a:rPr lang="en-US" sz="2400" dirty="0"/>
              <a:t>&lt;h2&gt;HTML Super Heroes&lt;/h2&gt;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&lt;table border = "1"&gt;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400050" lvl="1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th</a:t>
            </a:r>
            <a:r>
              <a:rPr lang="en-US" sz="2000" dirty="0"/>
              <a:t>&gt;Hero&lt;/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pPr marL="400050" lvl="1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th</a:t>
            </a:r>
            <a:r>
              <a:rPr lang="en-US" sz="2000" dirty="0"/>
              <a:t>&gt;Power&lt;/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pPr marL="400050" lvl="1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th</a:t>
            </a:r>
            <a:r>
              <a:rPr lang="en-US" sz="2000" dirty="0"/>
              <a:t>&gt;Nemesis&lt;/</a:t>
            </a:r>
            <a:r>
              <a:rPr lang="en-US" sz="2000" dirty="0" err="1"/>
              <a:t>th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400" dirty="0"/>
              <a:t>&lt;/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&lt;td&gt;The </a:t>
            </a:r>
            <a:r>
              <a:rPr lang="en-US" dirty="0" err="1"/>
              <a:t>HTMLator</a:t>
            </a:r>
            <a:r>
              <a:rPr lang="en-US" dirty="0"/>
              <a:t>&lt;/td&gt;</a:t>
            </a:r>
          </a:p>
          <a:p>
            <a:pPr marL="400050" lvl="1" indent="0">
              <a:buNone/>
            </a:pPr>
            <a:r>
              <a:rPr lang="en-US" dirty="0"/>
              <a:t>&lt;td&gt;Standards compliance&lt;/td&gt;</a:t>
            </a:r>
          </a:p>
          <a:p>
            <a:pPr marL="400050" lvl="1" indent="0">
              <a:buNone/>
            </a:pPr>
            <a:r>
              <a:rPr lang="en-US" dirty="0"/>
              <a:t>&lt;td&gt;Sloppy Code Boy&lt;/td&gt;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1219200"/>
            <a:ext cx="4038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&lt;td&gt;Captain CSS&lt;/td&gt;</a:t>
            </a:r>
          </a:p>
          <a:p>
            <a:pPr marL="400050" lvl="1" indent="0">
              <a:buNone/>
            </a:pPr>
            <a:r>
              <a:rPr lang="en-US" dirty="0"/>
              <a:t>&lt;td&gt;Super-layout&lt;/td&gt;</a:t>
            </a:r>
          </a:p>
          <a:p>
            <a:pPr marL="400050" lvl="1" indent="0">
              <a:buNone/>
            </a:pPr>
            <a:r>
              <a:rPr lang="en-US" dirty="0"/>
              <a:t>&lt;td&gt;Lord Deprecated&lt;/td&gt;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&lt;td&gt;Browser Woman&lt;/td&gt;</a:t>
            </a:r>
          </a:p>
          <a:p>
            <a:pPr marL="400050" lvl="1" indent="0">
              <a:buNone/>
            </a:pPr>
            <a:r>
              <a:rPr lang="en-US" dirty="0"/>
              <a:t>&lt;td&gt;Mega-Compatibility&lt;/td&gt;</a:t>
            </a:r>
          </a:p>
          <a:p>
            <a:pPr marL="400050" lvl="1" indent="0">
              <a:buNone/>
            </a:pPr>
            <a:r>
              <a:rPr lang="en-US" dirty="0"/>
              <a:t>&lt;td&gt;Ugly Code Monster&lt;/td&gt;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&lt;/table&gt;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7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Spanning rows and columns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cells larger than the default is two special attributes: </a:t>
            </a:r>
            <a:r>
              <a:rPr lang="en-US" dirty="0" err="1"/>
              <a:t>rowspan</a:t>
            </a:r>
            <a:r>
              <a:rPr lang="en-US" dirty="0"/>
              <a:t> and </a:t>
            </a:r>
            <a:r>
              <a:rPr lang="en-US" dirty="0" err="1"/>
              <a:t>colspan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</a:t>
            </a:r>
            <a:r>
              <a:rPr lang="en-US" dirty="0" err="1"/>
              <a:t>th</a:t>
            </a:r>
            <a:r>
              <a:rPr lang="en-US" dirty="0"/>
              <a:t>&gt;Morning&lt;/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pPr marL="400050" lvl="1" indent="0">
              <a:buNone/>
            </a:pPr>
            <a:r>
              <a:rPr lang="en-US" dirty="0"/>
              <a:t>&lt;td </a:t>
            </a:r>
            <a:r>
              <a:rPr lang="en-US" dirty="0" err="1"/>
              <a:t>colspan</a:t>
            </a:r>
            <a:r>
              <a:rPr lang="en-US" dirty="0"/>
              <a:t> = "2"&gt;Design traps&lt;/td&gt;</a:t>
            </a:r>
          </a:p>
          <a:p>
            <a:pPr marL="400050" lvl="1" indent="0">
              <a:buNone/>
            </a:pPr>
            <a:r>
              <a:rPr lang="en-US" dirty="0"/>
              <a:t>&lt;td </a:t>
            </a:r>
            <a:r>
              <a:rPr lang="en-US" dirty="0" err="1"/>
              <a:t>colspan</a:t>
            </a:r>
            <a:r>
              <a:rPr lang="en-US" dirty="0"/>
              <a:t> = "3"&gt;Improve Hideout&lt;/td&gt;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8696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HTML Tables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ts val="4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Tables represent tabular data</a:t>
            </a:r>
          </a:p>
          <a:p>
            <a:pPr lvl="1" eaLnBrk="1" fontAlgn="auto" hangingPunct="1">
              <a:lnSpc>
                <a:spcPts val="4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 dirty="0"/>
              <a:t>A table consists of one or several rows</a:t>
            </a:r>
          </a:p>
          <a:p>
            <a:pPr lvl="1" eaLnBrk="1" fontAlgn="auto" hangingPunct="1">
              <a:lnSpc>
                <a:spcPts val="4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 dirty="0"/>
              <a:t>Each row has one or more columns</a:t>
            </a:r>
          </a:p>
          <a:p>
            <a:pPr eaLnBrk="1" fontAlgn="auto" hangingPunct="1">
              <a:lnSpc>
                <a:spcPts val="4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Tables comprised of several core tags: </a:t>
            </a:r>
          </a:p>
          <a:p>
            <a:pPr marL="0" indent="0" eaLnBrk="1" fontAlgn="auto" hangingPunct="1">
              <a:lnSpc>
                <a:spcPts val="4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	&lt;table&gt;&lt;/table&gt;</a:t>
            </a:r>
            <a:r>
              <a:rPr lang="en-US" sz="2400" dirty="0"/>
              <a:t>: begin / end the table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noProof="1">
                <a:latin typeface="Consolas" pitchFamily="49" charset="0"/>
                <a:cs typeface="Consolas" pitchFamily="49" charset="0"/>
              </a:rPr>
              <a:t>&lt;tr&gt;&lt;/tr&gt;</a:t>
            </a:r>
            <a:r>
              <a:rPr lang="en-US" sz="2400" noProof="1"/>
              <a:t>: </a:t>
            </a:r>
            <a:r>
              <a:rPr lang="en-US" sz="2400" dirty="0"/>
              <a:t>create a table row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&lt;td&gt;&lt;/td&gt;</a:t>
            </a:r>
            <a:r>
              <a:rPr lang="en-US" sz="2400" dirty="0"/>
              <a:t>: create tabular data (cell)</a:t>
            </a:r>
          </a:p>
          <a:p>
            <a:pPr eaLnBrk="1" fontAlgn="auto" hangingPunct="1">
              <a:lnSpc>
                <a:spcPts val="4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Tables should not be used for layout. Use CSS floats and positioning styles instead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070960C4-9D8B-4BD5-8C03-7811E1723278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9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10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Styling your table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562600"/>
          </a:xfrm>
        </p:spPr>
        <p:txBody>
          <a:bodyPr>
            <a:noAutofit/>
          </a:bodyPr>
          <a:lstStyle/>
          <a:p>
            <a:r>
              <a:rPr lang="en-US" sz="1500" dirty="0"/>
              <a:t>Table Border: </a:t>
            </a:r>
          </a:p>
          <a:p>
            <a:r>
              <a:rPr lang="en-US" sz="1500" dirty="0"/>
              <a:t>&lt;table style="border: solid 1px #aaa999;"&gt;</a:t>
            </a:r>
          </a:p>
          <a:p>
            <a:r>
              <a:rPr lang="en-US" sz="1500" dirty="0"/>
              <a:t>Birder for cells</a:t>
            </a:r>
          </a:p>
          <a:p>
            <a:r>
              <a:rPr lang="en-US" sz="1500" dirty="0"/>
              <a:t>&lt;</a:t>
            </a:r>
            <a:r>
              <a:rPr lang="en-US" sz="1500" dirty="0" err="1"/>
              <a:t>th</a:t>
            </a:r>
            <a:r>
              <a:rPr lang="en-US" sz="1500" dirty="0"/>
              <a:t> style="border: solid 1px #aaa999;"&gt;No.&lt;/</a:t>
            </a:r>
            <a:r>
              <a:rPr lang="en-US" sz="1500" dirty="0" err="1"/>
              <a:t>th</a:t>
            </a:r>
            <a:r>
              <a:rPr lang="en-US" sz="1500" dirty="0"/>
              <a:t>&gt;</a:t>
            </a:r>
          </a:p>
          <a:p>
            <a:r>
              <a:rPr lang="en-US" sz="1500" dirty="0"/>
              <a:t>&lt;td style="border: solid 1px #aaa999;"&gt;1&lt;/td&gt;</a:t>
            </a:r>
          </a:p>
          <a:p>
            <a:pPr marL="0" indent="0">
              <a:buNone/>
            </a:pPr>
            <a:r>
              <a:rPr lang="en-US" sz="1500" dirty="0"/>
              <a:t>Or </a:t>
            </a:r>
          </a:p>
          <a:p>
            <a:pPr marL="0" indent="0">
              <a:buNone/>
            </a:pPr>
            <a:r>
              <a:rPr lang="en-US" sz="1500" dirty="0"/>
              <a:t>&lt;style&gt;</a:t>
            </a:r>
          </a:p>
          <a:p>
            <a:pPr marL="0" indent="0">
              <a:buNone/>
            </a:pPr>
            <a:r>
              <a:rPr lang="en-US" sz="1500" dirty="0"/>
              <a:t>      table {</a:t>
            </a:r>
          </a:p>
          <a:p>
            <a:pPr marL="0" indent="0">
              <a:buNone/>
            </a:pPr>
            <a:r>
              <a:rPr lang="en-US" sz="1500" dirty="0"/>
              <a:t>        border: solid 1px #aaa999;</a:t>
            </a:r>
          </a:p>
          <a:p>
            <a:pPr marL="0" indent="0">
              <a:buNone/>
            </a:pPr>
            <a:r>
              <a:rPr lang="en-US" sz="1500" dirty="0"/>
              <a:t>      }</a:t>
            </a:r>
          </a:p>
          <a:p>
            <a:pPr marL="0" indent="0">
              <a:buNone/>
            </a:pPr>
            <a:r>
              <a:rPr lang="en-US" sz="1500" dirty="0"/>
              <a:t>      table {</a:t>
            </a:r>
          </a:p>
          <a:p>
            <a:pPr marL="0" indent="0">
              <a:buNone/>
            </a:pPr>
            <a:r>
              <a:rPr lang="en-US" sz="1500" dirty="0"/>
              <a:t>              background-color: aqua;    --- Back color of table is changed </a:t>
            </a:r>
          </a:p>
          <a:p>
            <a:pPr marL="0" indent="0">
              <a:buNone/>
            </a:pPr>
            <a:r>
              <a:rPr lang="en-US" sz="1500" dirty="0"/>
              <a:t>       }</a:t>
            </a:r>
          </a:p>
          <a:p>
            <a:pPr marL="0" indent="0">
              <a:buNone/>
            </a:pPr>
            <a:r>
              <a:rPr lang="en-US" sz="1500" dirty="0"/>
              <a:t>       table </a:t>
            </a:r>
            <a:r>
              <a:rPr lang="en-US" sz="1500" dirty="0" err="1"/>
              <a:t>tr</a:t>
            </a:r>
            <a:r>
              <a:rPr lang="en-US" sz="1500" dirty="0"/>
              <a:t> </a:t>
            </a:r>
            <a:r>
              <a:rPr lang="en-US" sz="1500" dirty="0" err="1"/>
              <a:t>th</a:t>
            </a:r>
            <a:r>
              <a:rPr lang="en-US" sz="1500" dirty="0"/>
              <a:t> {   background-color: #808000; } – Header color is changed</a:t>
            </a:r>
          </a:p>
          <a:p>
            <a:pPr marL="0" indent="0">
              <a:buNone/>
            </a:pPr>
            <a:r>
              <a:rPr lang="en-US" sz="1500" dirty="0"/>
              <a:t>      table </a:t>
            </a:r>
            <a:r>
              <a:rPr lang="en-US" sz="1500" dirty="0" err="1"/>
              <a:t>tr</a:t>
            </a:r>
            <a:r>
              <a:rPr lang="en-US" sz="1500" dirty="0"/>
              <a:t> </a:t>
            </a:r>
            <a:r>
              <a:rPr lang="en-US" sz="1500" dirty="0" err="1"/>
              <a:t>th</a:t>
            </a:r>
            <a:r>
              <a:rPr lang="en-US" sz="1500" dirty="0"/>
              <a:t> {</a:t>
            </a:r>
          </a:p>
          <a:p>
            <a:pPr marL="0" indent="0">
              <a:buNone/>
            </a:pPr>
            <a:r>
              <a:rPr lang="en-US" sz="1500" dirty="0"/>
              <a:t>        border: solid 1px #aaa999; --  Border color changed </a:t>
            </a:r>
          </a:p>
          <a:p>
            <a:pPr marL="0" indent="0">
              <a:buNone/>
            </a:pPr>
            <a:r>
              <a:rPr lang="en-US" sz="1500" dirty="0"/>
              <a:t>      }</a:t>
            </a:r>
          </a:p>
          <a:p>
            <a:pPr marL="0" indent="0">
              <a:buNone/>
            </a:pPr>
            <a:r>
              <a:rPr lang="en-US" sz="1500" dirty="0"/>
              <a:t>      table </a:t>
            </a:r>
            <a:r>
              <a:rPr lang="en-US" sz="1500" dirty="0" err="1"/>
              <a:t>tr</a:t>
            </a:r>
            <a:r>
              <a:rPr lang="en-US" sz="1500" dirty="0"/>
              <a:t> td {</a:t>
            </a:r>
          </a:p>
          <a:p>
            <a:pPr marL="0" indent="0">
              <a:buNone/>
            </a:pPr>
            <a:r>
              <a:rPr lang="en-US" sz="1500" dirty="0"/>
              <a:t>        border: solid 1px #aaa999;</a:t>
            </a:r>
          </a:p>
          <a:p>
            <a:pPr marL="0" indent="0">
              <a:buNone/>
            </a:pPr>
            <a:r>
              <a:rPr lang="en-US" sz="1500" dirty="0"/>
              <a:t>      }</a:t>
            </a:r>
          </a:p>
          <a:p>
            <a:pPr marL="0" indent="0">
              <a:buNone/>
            </a:pPr>
            <a:r>
              <a:rPr lang="en-US" sz="1500" dirty="0"/>
              <a:t>    &lt;/style&gt;</a:t>
            </a:r>
          </a:p>
        </p:txBody>
      </p:sp>
    </p:spTree>
    <p:extLst>
      <p:ext uri="{BB962C8B-B14F-4D97-AF65-F5344CB8AC3E}">
        <p14:creationId xmlns:p14="http://schemas.microsoft.com/office/powerpoint/2010/main" val="42122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8013" y="1230313"/>
            <a:ext cx="7926387" cy="51704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cellspacing="0" cellpadding="5"&gt;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src="ppt.gif"&gt;&lt;/td&gt;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href="lecture1.ppt"&gt;Lecture 1&lt;/a&gt;&lt;/td&gt;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src="ppt.gif"&gt;&lt;/td&gt;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href="lecture2.ppt"&gt;Lecture 2&lt;/a&gt;&lt;/td&gt;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src="zip.gif"&gt;&lt;/td&gt;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href="lecture2-demos.zip"&gt;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Lecture 2 - Demos&lt;/a&gt;&lt;/td&gt;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&lt;/tr&gt;</a:t>
            </a: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230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0070C0"/>
                </a:solidFill>
              </a:rPr>
              <a:t>Simple HTML Tables – Example (2)</a:t>
            </a:r>
            <a:endParaRPr lang="bg-BG" altLang="en-US" sz="3200">
              <a:solidFill>
                <a:srgbClr val="0070C0"/>
              </a:solidFill>
            </a:endParaRPr>
          </a:p>
        </p:txBody>
      </p:sp>
      <p:sp>
        <p:nvSpPr>
          <p:cNvPr id="23040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l" eaLnBrk="1" hangingPunct="1"/>
            <a:fld id="{5743F679-7EAA-44BB-9F04-EED8A214CF8E}" type="slidenum">
              <a:rPr lang="en-US" altLang="en-US" smtClean="0">
                <a:solidFill>
                  <a:srgbClr val="898989"/>
                </a:solidFill>
              </a:rPr>
              <a:pPr algn="l" eaLnBrk="1" hangingPunct="1"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2304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914775"/>
            <a:ext cx="280035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382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0070C0"/>
                </a:solidFill>
              </a:rPr>
              <a:t>HTML Tables</a:t>
            </a:r>
            <a:endParaRPr lang="bg-BG" altLang="en-US" sz="3200">
              <a:solidFill>
                <a:srgbClr val="0070C0"/>
              </a:solidFill>
            </a:endParaRPr>
          </a:p>
        </p:txBody>
      </p:sp>
      <p:sp>
        <p:nvSpPr>
          <p:cNvPr id="105677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Table rows split into three semantic sections: header, body and footer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noProof="1">
                <a:latin typeface="Consolas" pitchFamily="49" charset="0"/>
                <a:cs typeface="Consolas" pitchFamily="49" charset="0"/>
              </a:rPr>
              <a:t>&lt;thead&gt;</a:t>
            </a:r>
            <a:r>
              <a:rPr lang="en-US" dirty="0"/>
              <a:t> denotes table header and contains </a:t>
            </a:r>
            <a:r>
              <a:rPr lang="en-US" noProof="1">
                <a:latin typeface="Consolas" pitchFamily="49" charset="0"/>
                <a:cs typeface="Consolas" pitchFamily="49" charset="0"/>
              </a:rPr>
              <a:t>&lt;th&gt;</a:t>
            </a:r>
            <a:r>
              <a:rPr lang="en-US" dirty="0"/>
              <a:t> elements, instead of </a:t>
            </a:r>
            <a:r>
              <a:rPr lang="en-US" noProof="1">
                <a:latin typeface="Consolas" pitchFamily="49" charset="0"/>
                <a:cs typeface="Consolas" pitchFamily="49" charset="0"/>
              </a:rPr>
              <a:t>&lt;td&gt;</a:t>
            </a:r>
            <a:r>
              <a:rPr lang="en-US" dirty="0"/>
              <a:t> elements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noProof="1">
                <a:latin typeface="Consolas" pitchFamily="49" charset="0"/>
                <a:cs typeface="Consolas" pitchFamily="49" charset="0"/>
              </a:rPr>
              <a:t>&lt;tbody&gt;</a:t>
            </a:r>
            <a:r>
              <a:rPr lang="en-US" dirty="0"/>
              <a:t> denotes collection of table rows that contain the very data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noProof="1">
                <a:latin typeface="Consolas" pitchFamily="49" charset="0"/>
                <a:cs typeface="Consolas" pitchFamily="49" charset="0"/>
              </a:rPr>
              <a:t>&lt;tfoot&gt;</a:t>
            </a:r>
            <a:r>
              <a:rPr lang="en-US" dirty="0"/>
              <a:t> denotes table footer but comes BEFORE the </a:t>
            </a:r>
            <a:r>
              <a:rPr lang="en-US" noProof="1">
                <a:latin typeface="Consolas" pitchFamily="49" charset="0"/>
                <a:cs typeface="Consolas" pitchFamily="49" charset="0"/>
              </a:rPr>
              <a:t>&lt;tbody&gt;</a:t>
            </a:r>
            <a:r>
              <a:rPr lang="en-US" dirty="0"/>
              <a:t> tag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noProof="1">
                <a:latin typeface="Consolas" pitchFamily="49" charset="0"/>
                <a:cs typeface="Consolas" pitchFamily="49" charset="0"/>
              </a:rPr>
              <a:t>&lt;colgroup&gt;</a:t>
            </a:r>
            <a:r>
              <a:rPr lang="en-US" dirty="0"/>
              <a:t> and </a:t>
            </a:r>
            <a:r>
              <a:rPr lang="en-US" noProof="1">
                <a:latin typeface="Consolas" pitchFamily="49" charset="0"/>
                <a:cs typeface="Consolas" pitchFamily="49" charset="0"/>
              </a:rPr>
              <a:t>&lt;col&gt;</a:t>
            </a:r>
            <a:r>
              <a:rPr lang="en-US" dirty="0"/>
              <a:t> define columns (most often used to set column widths)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6BB25B5A-F7E8-4E5F-ADE5-3F9778E822CF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12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84252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0070C0"/>
                </a:solidFill>
              </a:rPr>
              <a:t>Complete HTML Table: Example</a:t>
            </a:r>
            <a:endParaRPr lang="bg-BG" altLang="en-US" sz="3200">
              <a:solidFill>
                <a:srgbClr val="0070C0"/>
              </a:solidFill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</a:t>
            </a:r>
            <a:endParaRPr lang="bg-BG" alt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8B8DDD2F-3A60-4DD9-929C-EF4B021794F0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13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57796" name="Rectangle 4"/>
          <p:cNvSpPr>
            <a:spLocks noChangeArrowheads="1"/>
          </p:cNvSpPr>
          <p:nvPr/>
        </p:nvSpPr>
        <p:spPr bwMode="auto">
          <a:xfrm>
            <a:off x="611188" y="1066800"/>
            <a:ext cx="7847012" cy="54784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&lt;col style="width:100px" /&gt;&lt;col /&gt;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&lt;tr&gt;&lt;th&gt;Column 1&lt;/th&gt;&lt;th&gt;Column 2&lt;/th&gt;&lt;/tr&gt;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&lt;tr&gt;&lt;td&gt;Footer 1&lt;/td&gt;&lt;td&gt;Footer 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1.1&lt;/td&gt;&lt;td&gt;Cell 1.2&lt;/td&gt;&lt;/tr&gt;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2.1&lt;/td&gt;&lt;td&gt;Cell 2.2&lt;/td&gt;&lt;/tr&gt;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819400" y="2292350"/>
            <a:ext cx="2514600" cy="527050"/>
          </a:xfrm>
          <a:prstGeom prst="wedgeRoundRectCallout">
            <a:avLst>
              <a:gd name="adj1" fmla="val -90772"/>
              <a:gd name="adj2" fmla="val 4788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header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514600" y="3359150"/>
            <a:ext cx="2209800" cy="527050"/>
          </a:xfrm>
          <a:prstGeom prst="wedgeRoundRectCallout">
            <a:avLst>
              <a:gd name="adj1" fmla="val -82311"/>
              <a:gd name="adj2" fmla="val 5258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footer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3581400" y="4425950"/>
            <a:ext cx="4419600" cy="527050"/>
          </a:xfrm>
          <a:prstGeom prst="wedgeRoundRectCallout">
            <a:avLst>
              <a:gd name="adj1" fmla="val -90128"/>
              <a:gd name="adj2" fmla="val 5548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Last comes the body (data)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934200" y="2209800"/>
            <a:ext cx="990600" cy="527050"/>
          </a:xfrm>
          <a:prstGeom prst="wedgeRoundRectCallout">
            <a:avLst>
              <a:gd name="adj1" fmla="val -88658"/>
              <a:gd name="adj2" fmla="val 74075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352800" y="1225550"/>
            <a:ext cx="2514600" cy="527050"/>
          </a:xfrm>
          <a:prstGeom prst="wedgeRoundRectCallout">
            <a:avLst>
              <a:gd name="adj1" fmla="val -90772"/>
              <a:gd name="adj2" fmla="val 4788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columns</a:t>
            </a:r>
          </a:p>
        </p:txBody>
      </p:sp>
    </p:spTree>
    <p:extLst>
      <p:ext uri="{BB962C8B-B14F-4D97-AF65-F5344CB8AC3E}">
        <p14:creationId xmlns:p14="http://schemas.microsoft.com/office/powerpoint/2010/main" val="2154387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11188" y="1219200"/>
            <a:ext cx="7847012" cy="54784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&lt;col style="width:200px" /&gt;&lt;col /&gt;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&lt;tr&gt;&lt;th&gt;Column 1&lt;/th&gt;&lt;th&gt;Column 2&lt;/th&gt;&lt;/tr&gt;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&lt;tr&gt;&lt;td&gt;Footer 1&lt;/td&gt;&lt;td&gt;Footer 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1.1&lt;/td&gt;&lt;td&gt;Cell 1.2&lt;/td&gt;&lt;/tr&gt;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2.1&lt;/td&gt;&lt;td&gt;Cell 2.2&lt;/td&gt;&lt;/tr&gt;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dirty="0">
                <a:solidFill>
                  <a:srgbClr val="0070C0"/>
                </a:solidFill>
              </a:rPr>
              <a:t>Complete HTML Table</a:t>
            </a:r>
            <a:br>
              <a:rPr lang="en-US" sz="3800" dirty="0">
                <a:solidFill>
                  <a:srgbClr val="0070C0"/>
                </a:solidFill>
              </a:rPr>
            </a:br>
            <a:r>
              <a:rPr lang="en-US" sz="3800" dirty="0"/>
              <a:t>Example (2)</a:t>
            </a:r>
            <a:endParaRPr lang="bg-BG" sz="3800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13C6267E-C0E5-402B-81A2-A611DEA24553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14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05400" y="1130300"/>
            <a:ext cx="3381375" cy="546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table-full.html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514600" y="5029200"/>
            <a:ext cx="4038600" cy="1379538"/>
          </a:xfrm>
          <a:prstGeom prst="wedgeRoundRectCallout">
            <a:avLst>
              <a:gd name="adj1" fmla="val -63389"/>
              <a:gd name="adj2" fmla="val -8875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Although the footer is before the data in the code, it is displayed last</a:t>
            </a:r>
          </a:p>
        </p:txBody>
      </p:sp>
      <p:pic>
        <p:nvPicPr>
          <p:cNvPr id="2334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52600"/>
            <a:ext cx="53054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752600" y="685800"/>
            <a:ext cx="4038600" cy="954088"/>
          </a:xfrm>
          <a:prstGeom prst="wedgeRoundRectCallout">
            <a:avLst>
              <a:gd name="adj1" fmla="val 72723"/>
              <a:gd name="adj2" fmla="val 16550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By default, header text is bold and centered.</a:t>
            </a:r>
          </a:p>
        </p:txBody>
      </p:sp>
    </p:spTree>
    <p:extLst>
      <p:ext uri="{BB962C8B-B14F-4D97-AF65-F5344CB8AC3E}">
        <p14:creationId xmlns:p14="http://schemas.microsoft.com/office/powerpoint/2010/main" val="34444556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Nested Tables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90600"/>
            <a:ext cx="8496300" cy="53292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/>
              <a:t>Table data “cells” (</a:t>
            </a:r>
            <a:r>
              <a:rPr lang="en-US" altLang="en-US" sz="3000">
                <a:latin typeface="Consolas" pitchFamily="49" charset="0"/>
                <a:cs typeface="Consolas" pitchFamily="49" charset="0"/>
              </a:rPr>
              <a:t>&lt;td&gt;</a:t>
            </a:r>
            <a:r>
              <a:rPr lang="en-US" altLang="en-US" sz="3000"/>
              <a:t>) can contain nested tables (tables within tables):</a:t>
            </a:r>
            <a:endParaRPr lang="en-US" altLang="en-US" sz="3000">
              <a:latin typeface="Courier New" pitchFamily="49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D94E1375-D433-4C7E-9DC3-F10BA0E0F80B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15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31846" name="Rectangle 6"/>
          <p:cNvSpPr>
            <a:spLocks noChangeArrowheads="1"/>
          </p:cNvSpPr>
          <p:nvPr/>
        </p:nvSpPr>
        <p:spPr bwMode="auto">
          <a:xfrm>
            <a:off x="539750" y="2057400"/>
            <a:ext cx="7993063" cy="4427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&lt;td&gt;Contact:&lt;/td&gt;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&lt;td&gt;First Name&lt;/td&gt;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&lt;td&gt;Last Name&lt;/td&gt;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3025" y="1968500"/>
            <a:ext cx="3381375" cy="546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nested-tables.html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2345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75" y="3905250"/>
            <a:ext cx="309562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57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343400" y="1981200"/>
            <a:ext cx="4267200" cy="4419600"/>
          </a:xfrm>
          <a:prstGeom prst="rect">
            <a:avLst/>
          </a:prstGeom>
        </p:spPr>
        <p:txBody>
          <a:bodyPr/>
          <a:lstStyle/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cellpadding</a:t>
            </a: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the empty space around the cell content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457200" y="1981200"/>
            <a:ext cx="3352800" cy="4572000"/>
          </a:xfrm>
          <a:prstGeom prst="rect">
            <a:avLst/>
          </a:prstGeom>
        </p:spPr>
        <p:txBody>
          <a:bodyPr/>
          <a:lstStyle/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</a:t>
            </a: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the empty space between cells</a:t>
            </a:r>
          </a:p>
        </p:txBody>
      </p:sp>
      <p:sp>
        <p:nvSpPr>
          <p:cNvPr id="235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0070C0"/>
                </a:solidFill>
              </a:rPr>
              <a:t>Cell Spacing and Padding</a:t>
            </a:r>
          </a:p>
        </p:txBody>
      </p:sp>
      <p:sp>
        <p:nvSpPr>
          <p:cNvPr id="23552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686800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Tables have two important attributes:</a:t>
            </a:r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F3D6071F-7D26-4652-845F-63E2863647AB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16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235527" name="Group 52"/>
          <p:cNvGrpSpPr>
            <a:grpSpLocks/>
          </p:cNvGrpSpPr>
          <p:nvPr/>
        </p:nvGrpSpPr>
        <p:grpSpPr bwMode="auto">
          <a:xfrm>
            <a:off x="969963" y="3055938"/>
            <a:ext cx="2233612" cy="1439862"/>
            <a:chOff x="838" y="1933"/>
            <a:chExt cx="1407" cy="907"/>
          </a:xfrm>
        </p:grpSpPr>
        <p:sp>
          <p:nvSpPr>
            <p:cNvPr id="1024007" name="Rectangle 7"/>
            <p:cNvSpPr>
              <a:spLocks noChangeArrowheads="1"/>
            </p:cNvSpPr>
            <p:nvPr/>
          </p:nvSpPr>
          <p:spPr bwMode="auto">
            <a:xfrm>
              <a:off x="838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08" name="Rectangle 8"/>
            <p:cNvSpPr>
              <a:spLocks noChangeArrowheads="1"/>
            </p:cNvSpPr>
            <p:nvPr/>
          </p:nvSpPr>
          <p:spPr bwMode="auto">
            <a:xfrm>
              <a:off x="1746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09" name="Rectangle 9"/>
            <p:cNvSpPr>
              <a:spLocks noChangeArrowheads="1"/>
            </p:cNvSpPr>
            <p:nvPr/>
          </p:nvSpPr>
          <p:spPr bwMode="auto">
            <a:xfrm>
              <a:off x="838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10" name="Rectangle 10"/>
            <p:cNvSpPr>
              <a:spLocks noChangeArrowheads="1"/>
            </p:cNvSpPr>
            <p:nvPr/>
          </p:nvSpPr>
          <p:spPr bwMode="auto">
            <a:xfrm>
              <a:off x="1746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11" name="Line 11"/>
            <p:cNvSpPr>
              <a:spLocks noChangeShapeType="1"/>
            </p:cNvSpPr>
            <p:nvPr/>
          </p:nvSpPr>
          <p:spPr bwMode="auto">
            <a:xfrm>
              <a:off x="1336" y="2069"/>
              <a:ext cx="410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14" name="Line 14"/>
            <p:cNvSpPr>
              <a:spLocks noChangeShapeType="1"/>
            </p:cNvSpPr>
            <p:nvPr/>
          </p:nvSpPr>
          <p:spPr bwMode="auto">
            <a:xfrm flipH="1">
              <a:off x="1988" y="2197"/>
              <a:ext cx="0" cy="371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29" name="Line 29"/>
            <p:cNvSpPr>
              <a:spLocks noChangeShapeType="1"/>
            </p:cNvSpPr>
            <p:nvPr/>
          </p:nvSpPr>
          <p:spPr bwMode="auto">
            <a:xfrm>
              <a:off x="1337" y="2704"/>
              <a:ext cx="410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30" name="Line 30"/>
            <p:cNvSpPr>
              <a:spLocks noChangeShapeType="1"/>
            </p:cNvSpPr>
            <p:nvPr/>
          </p:nvSpPr>
          <p:spPr bwMode="auto">
            <a:xfrm flipH="1">
              <a:off x="1087" y="2197"/>
              <a:ext cx="0" cy="371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235528" name="Group 51"/>
          <p:cNvGrpSpPr>
            <a:grpSpLocks/>
          </p:cNvGrpSpPr>
          <p:nvPr/>
        </p:nvGrpSpPr>
        <p:grpSpPr bwMode="auto">
          <a:xfrm>
            <a:off x="5224463" y="2819400"/>
            <a:ext cx="2501900" cy="1887538"/>
            <a:chOff x="3345" y="1688"/>
            <a:chExt cx="1576" cy="1189"/>
          </a:xfrm>
        </p:grpSpPr>
        <p:sp>
          <p:nvSpPr>
            <p:cNvPr id="1024025" name="Rectangle 25"/>
            <p:cNvSpPr>
              <a:spLocks noChangeArrowheads="1"/>
            </p:cNvSpPr>
            <p:nvPr/>
          </p:nvSpPr>
          <p:spPr bwMode="auto">
            <a:xfrm>
              <a:off x="3355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31" name="Line 31"/>
            <p:cNvSpPr>
              <a:spLocks noChangeShapeType="1"/>
            </p:cNvSpPr>
            <p:nvPr/>
          </p:nvSpPr>
          <p:spPr bwMode="auto">
            <a:xfrm flipH="1">
              <a:off x="3718" y="205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3" name="Line 33"/>
            <p:cNvSpPr>
              <a:spLocks noChangeShapeType="1"/>
            </p:cNvSpPr>
            <p:nvPr/>
          </p:nvSpPr>
          <p:spPr bwMode="auto">
            <a:xfrm>
              <a:off x="3345" y="199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4" name="Line 34"/>
            <p:cNvSpPr>
              <a:spLocks noChangeShapeType="1"/>
            </p:cNvSpPr>
            <p:nvPr/>
          </p:nvSpPr>
          <p:spPr bwMode="auto">
            <a:xfrm>
              <a:off x="3884" y="199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5" name="Line 35"/>
            <p:cNvSpPr>
              <a:spLocks noChangeShapeType="1"/>
            </p:cNvSpPr>
            <p:nvPr/>
          </p:nvSpPr>
          <p:spPr bwMode="auto">
            <a:xfrm flipH="1">
              <a:off x="3718" y="171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6" name="Rectangle 36"/>
            <p:cNvSpPr>
              <a:spLocks noChangeArrowheads="1"/>
            </p:cNvSpPr>
            <p:nvPr/>
          </p:nvSpPr>
          <p:spPr bwMode="auto">
            <a:xfrm>
              <a:off x="3355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37" name="Line 37"/>
            <p:cNvSpPr>
              <a:spLocks noChangeShapeType="1"/>
            </p:cNvSpPr>
            <p:nvPr/>
          </p:nvSpPr>
          <p:spPr bwMode="auto">
            <a:xfrm flipH="1">
              <a:off x="3718" y="264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8" name="Line 38"/>
            <p:cNvSpPr>
              <a:spLocks noChangeShapeType="1"/>
            </p:cNvSpPr>
            <p:nvPr/>
          </p:nvSpPr>
          <p:spPr bwMode="auto">
            <a:xfrm>
              <a:off x="3345" y="258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9" name="Line 39"/>
            <p:cNvSpPr>
              <a:spLocks noChangeShapeType="1"/>
            </p:cNvSpPr>
            <p:nvPr/>
          </p:nvSpPr>
          <p:spPr bwMode="auto">
            <a:xfrm>
              <a:off x="3884" y="258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0" name="Line 40"/>
            <p:cNvSpPr>
              <a:spLocks noChangeShapeType="1"/>
            </p:cNvSpPr>
            <p:nvPr/>
          </p:nvSpPr>
          <p:spPr bwMode="auto">
            <a:xfrm flipH="1">
              <a:off x="3718" y="230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1" name="Rectangle 41"/>
            <p:cNvSpPr>
              <a:spLocks noChangeArrowheads="1"/>
            </p:cNvSpPr>
            <p:nvPr/>
          </p:nvSpPr>
          <p:spPr bwMode="auto">
            <a:xfrm>
              <a:off x="4171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42" name="Line 42"/>
            <p:cNvSpPr>
              <a:spLocks noChangeShapeType="1"/>
            </p:cNvSpPr>
            <p:nvPr/>
          </p:nvSpPr>
          <p:spPr bwMode="auto">
            <a:xfrm flipH="1">
              <a:off x="4534" y="205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3" name="Line 43"/>
            <p:cNvSpPr>
              <a:spLocks noChangeShapeType="1"/>
            </p:cNvSpPr>
            <p:nvPr/>
          </p:nvSpPr>
          <p:spPr bwMode="auto">
            <a:xfrm>
              <a:off x="4161" y="199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4" name="Line 44"/>
            <p:cNvSpPr>
              <a:spLocks noChangeShapeType="1"/>
            </p:cNvSpPr>
            <p:nvPr/>
          </p:nvSpPr>
          <p:spPr bwMode="auto">
            <a:xfrm>
              <a:off x="4700" y="199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5" name="Line 45"/>
            <p:cNvSpPr>
              <a:spLocks noChangeShapeType="1"/>
            </p:cNvSpPr>
            <p:nvPr/>
          </p:nvSpPr>
          <p:spPr bwMode="auto">
            <a:xfrm flipH="1">
              <a:off x="4534" y="171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6" name="Rectangle 46"/>
            <p:cNvSpPr>
              <a:spLocks noChangeArrowheads="1"/>
            </p:cNvSpPr>
            <p:nvPr/>
          </p:nvSpPr>
          <p:spPr bwMode="auto">
            <a:xfrm>
              <a:off x="4171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47" name="Line 47"/>
            <p:cNvSpPr>
              <a:spLocks noChangeShapeType="1"/>
            </p:cNvSpPr>
            <p:nvPr/>
          </p:nvSpPr>
          <p:spPr bwMode="auto">
            <a:xfrm flipH="1">
              <a:off x="4534" y="264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8" name="Line 48"/>
            <p:cNvSpPr>
              <a:spLocks noChangeShapeType="1"/>
            </p:cNvSpPr>
            <p:nvPr/>
          </p:nvSpPr>
          <p:spPr bwMode="auto">
            <a:xfrm>
              <a:off x="4161" y="258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9" name="Line 49"/>
            <p:cNvSpPr>
              <a:spLocks noChangeShapeType="1"/>
            </p:cNvSpPr>
            <p:nvPr/>
          </p:nvSpPr>
          <p:spPr bwMode="auto">
            <a:xfrm>
              <a:off x="4700" y="258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50" name="Line 50"/>
            <p:cNvSpPr>
              <a:spLocks noChangeShapeType="1"/>
            </p:cNvSpPr>
            <p:nvPr/>
          </p:nvSpPr>
          <p:spPr bwMode="auto">
            <a:xfrm flipH="1">
              <a:off x="4534" y="230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3179556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7588" y="76200"/>
            <a:ext cx="7086600" cy="914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rgbClr val="0070C0"/>
                </a:solidFill>
              </a:rPr>
              <a:t>Cell Spacing and Padding – Example (2)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10211B7D-EB98-455A-91F0-9D2E11D35525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17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26052" name="Rectangle 4"/>
          <p:cNvSpPr>
            <a:spLocks noChangeArrowheads="1"/>
          </p:cNvSpPr>
          <p:nvPr/>
        </p:nvSpPr>
        <p:spPr bwMode="auto">
          <a:xfrm>
            <a:off x="565150" y="1400175"/>
            <a:ext cx="7993063" cy="4427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&lt;head&gt;&lt;title&gt;Table Cells&lt;/title&gt;&lt;/head&gt;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cellspacing="15" cellpadding="0"&gt;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&lt;br/&gt;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cellspacing="0" cellpadding="10"&gt;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1026054" name="Rectangle 6"/>
          <p:cNvSpPr>
            <a:spLocks noChangeArrowheads="1"/>
          </p:cNvSpPr>
          <p:nvPr/>
        </p:nvSpPr>
        <p:spPr bwMode="auto">
          <a:xfrm>
            <a:off x="457200" y="868363"/>
            <a:ext cx="2444750" cy="5794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bg-BG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</a:t>
            </a:r>
            <a:r>
              <a:rPr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cells</a:t>
            </a:r>
            <a:r>
              <a:rPr lang="bg-BG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.html</a:t>
            </a:r>
          </a:p>
        </p:txBody>
      </p:sp>
      <p:pic>
        <p:nvPicPr>
          <p:cNvPr id="23655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76550"/>
            <a:ext cx="368617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266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5334000" y="1676400"/>
            <a:ext cx="3352800" cy="4876800"/>
          </a:xfrm>
          <a:prstGeom prst="rect">
            <a:avLst/>
          </a:prstGeom>
        </p:spPr>
        <p:txBody>
          <a:bodyPr/>
          <a:lstStyle/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rowspan</a:t>
            </a: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how many rows the cell occupies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457200" y="1676400"/>
            <a:ext cx="3352800" cy="4876800"/>
          </a:xfrm>
          <a:prstGeom prst="rect">
            <a:avLst/>
          </a:prstGeom>
        </p:spPr>
        <p:txBody>
          <a:bodyPr/>
          <a:lstStyle/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colspan</a:t>
            </a: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how many columns the cell occupies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0070C0"/>
                </a:solidFill>
              </a:rPr>
              <a:t>Column and Row Span</a:t>
            </a:r>
          </a:p>
        </p:txBody>
      </p:sp>
      <p:sp>
        <p:nvSpPr>
          <p:cNvPr id="237573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Table cells have two important attributes: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0836FDAF-37B4-440C-8D59-16FDB5632F61}" type="slidenum">
              <a:rPr lang="en-US">
                <a:solidFill>
                  <a:schemeClr val="tx1">
                    <a:tint val="75000"/>
                  </a:schemeClr>
                </a:solidFill>
              </a:rPr>
              <a:pPr algn="l">
                <a:defRPr/>
              </a:pPr>
              <a:t>18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36304" name="Rectangle 16"/>
          <p:cNvSpPr>
            <a:spLocks noChangeArrowheads="1"/>
          </p:cNvSpPr>
          <p:nvPr/>
        </p:nvSpPr>
        <p:spPr bwMode="auto">
          <a:xfrm>
            <a:off x="990600" y="3240088"/>
            <a:ext cx="1447800" cy="588962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cell[1,1]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4" name="Rectangle 36"/>
          <p:cNvSpPr>
            <a:spLocks noChangeArrowheads="1"/>
          </p:cNvSpPr>
          <p:nvPr/>
        </p:nvSpPr>
        <p:spPr bwMode="auto">
          <a:xfrm>
            <a:off x="2538413" y="3240088"/>
            <a:ext cx="1500187" cy="588962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cell[1,2]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5" name="Rectangle 37"/>
          <p:cNvSpPr>
            <a:spLocks noChangeArrowheads="1"/>
          </p:cNvSpPr>
          <p:nvPr/>
        </p:nvSpPr>
        <p:spPr bwMode="auto">
          <a:xfrm>
            <a:off x="990600" y="3908425"/>
            <a:ext cx="3048000" cy="587375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cell[2,1]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6" name="AutoShape 38"/>
          <p:cNvSpPr>
            <a:spLocks noChangeArrowheads="1"/>
          </p:cNvSpPr>
          <p:nvPr/>
        </p:nvSpPr>
        <p:spPr bwMode="auto">
          <a:xfrm>
            <a:off x="2555875" y="2492375"/>
            <a:ext cx="1871663" cy="527050"/>
          </a:xfrm>
          <a:prstGeom prst="wedgeRoundRectCallout">
            <a:avLst>
              <a:gd name="adj1" fmla="val -46269"/>
              <a:gd name="adj2" fmla="val 155148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colspan="1"</a:t>
            </a:r>
          </a:p>
        </p:txBody>
      </p:sp>
      <p:sp>
        <p:nvSpPr>
          <p:cNvPr id="1036327" name="AutoShape 39"/>
          <p:cNvSpPr>
            <a:spLocks noChangeArrowheads="1"/>
          </p:cNvSpPr>
          <p:nvPr/>
        </p:nvSpPr>
        <p:spPr bwMode="auto">
          <a:xfrm>
            <a:off x="539750" y="2492375"/>
            <a:ext cx="1871663" cy="511175"/>
          </a:xfrm>
          <a:prstGeom prst="wedgeRoundRectCallout">
            <a:avLst>
              <a:gd name="adj1" fmla="val 41519"/>
              <a:gd name="adj2" fmla="val 14595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colspan="1"</a:t>
            </a:r>
          </a:p>
        </p:txBody>
      </p:sp>
      <p:sp>
        <p:nvSpPr>
          <p:cNvPr id="1036328" name="AutoShape 40"/>
          <p:cNvSpPr>
            <a:spLocks noChangeArrowheads="1"/>
          </p:cNvSpPr>
          <p:nvPr/>
        </p:nvSpPr>
        <p:spPr bwMode="auto">
          <a:xfrm>
            <a:off x="2971800" y="4648200"/>
            <a:ext cx="1871663" cy="527050"/>
          </a:xfrm>
          <a:prstGeom prst="wedgeRoundRectCallout">
            <a:avLst>
              <a:gd name="adj1" fmla="val -39747"/>
              <a:gd name="adj2" fmla="val -11255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colspan="2"</a:t>
            </a:r>
          </a:p>
        </p:txBody>
      </p:sp>
      <p:sp>
        <p:nvSpPr>
          <p:cNvPr id="1036329" name="Rectangle 41"/>
          <p:cNvSpPr>
            <a:spLocks noChangeArrowheads="1"/>
          </p:cNvSpPr>
          <p:nvPr/>
        </p:nvSpPr>
        <p:spPr bwMode="auto">
          <a:xfrm>
            <a:off x="5291138" y="3200400"/>
            <a:ext cx="1503362" cy="1295400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lIns="180000" tIns="108000" rIns="180000" bIns="108000" anchor="ctr"/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cell[1,1]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0" name="Rectangle 42"/>
          <p:cNvSpPr>
            <a:spLocks noChangeArrowheads="1"/>
          </p:cNvSpPr>
          <p:nvPr/>
        </p:nvSpPr>
        <p:spPr bwMode="auto">
          <a:xfrm>
            <a:off x="6916738" y="3200400"/>
            <a:ext cx="1411287" cy="587375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cell[1,2]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2" name="Rectangle 44"/>
          <p:cNvSpPr>
            <a:spLocks noChangeArrowheads="1"/>
          </p:cNvSpPr>
          <p:nvPr/>
        </p:nvSpPr>
        <p:spPr bwMode="auto">
          <a:xfrm>
            <a:off x="6916738" y="3886200"/>
            <a:ext cx="1411287" cy="609600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cell[2,1]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3" name="AutoShape 45"/>
          <p:cNvSpPr>
            <a:spLocks noChangeArrowheads="1"/>
          </p:cNvSpPr>
          <p:nvPr/>
        </p:nvSpPr>
        <p:spPr bwMode="auto">
          <a:xfrm>
            <a:off x="4716463" y="2492375"/>
            <a:ext cx="1943100" cy="527050"/>
          </a:xfrm>
          <a:prstGeom prst="wedgeRoundRectCallout">
            <a:avLst>
              <a:gd name="adj1" fmla="val 38074"/>
              <a:gd name="adj2" fmla="val 15000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rowspan="2"</a:t>
            </a:r>
          </a:p>
        </p:txBody>
      </p:sp>
      <p:sp>
        <p:nvSpPr>
          <p:cNvPr id="1036334" name="AutoShape 46"/>
          <p:cNvSpPr>
            <a:spLocks noChangeArrowheads="1"/>
          </p:cNvSpPr>
          <p:nvPr/>
        </p:nvSpPr>
        <p:spPr bwMode="auto">
          <a:xfrm>
            <a:off x="6804025" y="2492375"/>
            <a:ext cx="1944688" cy="527050"/>
          </a:xfrm>
          <a:prstGeom prst="wedgeRoundRectCallout">
            <a:avLst>
              <a:gd name="adj1" fmla="val -39389"/>
              <a:gd name="adj2" fmla="val 15073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rowspan="1"</a:t>
            </a:r>
          </a:p>
        </p:txBody>
      </p:sp>
      <p:sp>
        <p:nvSpPr>
          <p:cNvPr id="20" name="AutoShape 46"/>
          <p:cNvSpPr>
            <a:spLocks noChangeArrowheads="1"/>
          </p:cNvSpPr>
          <p:nvPr/>
        </p:nvSpPr>
        <p:spPr bwMode="auto">
          <a:xfrm>
            <a:off x="6781800" y="4572000"/>
            <a:ext cx="1944688" cy="527050"/>
          </a:xfrm>
          <a:prstGeom prst="wedgeRoundRectCallout">
            <a:avLst>
              <a:gd name="adj1" fmla="val -36289"/>
              <a:gd name="adj2" fmla="val -8914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rowspan="1"</a:t>
            </a:r>
          </a:p>
        </p:txBody>
      </p:sp>
    </p:spTree>
    <p:extLst>
      <p:ext uri="{BB962C8B-B14F-4D97-AF65-F5344CB8AC3E}">
        <p14:creationId xmlns:p14="http://schemas.microsoft.com/office/powerpoint/2010/main" val="423815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326" grpId="0" animBg="1"/>
      <p:bldP spid="1036327" grpId="0" animBg="1"/>
      <p:bldP spid="1036328" grpId="0" animBg="1"/>
      <p:bldP spid="1036333" grpId="0" animBg="1"/>
      <p:bldP spid="1036334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9" name="Rectangle 3"/>
          <p:cNvSpPr>
            <a:spLocks noChangeArrowheads="1"/>
          </p:cNvSpPr>
          <p:nvPr/>
        </p:nvSpPr>
        <p:spPr bwMode="auto">
          <a:xfrm>
            <a:off x="381000" y="1219200"/>
            <a:ext cx="7993063" cy="28622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cellspacing="0"&gt;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class="1"&gt;&lt;td&gt;Cell[1,1]&lt;/td&gt;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colspan="2"&gt;Cell[2,1]&lt;/td&gt;&lt;/tr&gt;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class=“2"&gt;&lt;td&gt;Cell[1,2]&lt;/td&gt;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rowspan="2"&gt;Cell[2,2]&lt;/td&gt;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&lt;td&gt;Cell[3,2]&lt;/td&gt;&lt;/tr&gt;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class=“3"&gt;&lt;td&gt;Cell[1,3]&lt;/td&gt;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&lt;td&gt;Cell[2,3]&lt;/td&gt;&lt;/tr&gt;</a:t>
            </a:r>
          </a:p>
          <a:p>
            <a:pPr eaLnBrk="0" fontAlgn="auto" hangingPunc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4BACC6">
                  <a:lumMod val="40000"/>
                  <a:lumOff val="60000"/>
                </a:srgbClr>
              </a:buClr>
              <a:buSzPct val="70000"/>
              <a:defRPr/>
            </a:pPr>
            <a:r>
              <a:rPr lang="en-US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2375" y="3221038"/>
            <a:ext cx="5737225" cy="28575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38596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153988"/>
            <a:ext cx="8005762" cy="9144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070C0"/>
                </a:solidFill>
              </a:rPr>
              <a:t>Column and Row Span –Example (2)</a:t>
            </a:r>
          </a:p>
        </p:txBody>
      </p:sp>
      <p:sp>
        <p:nvSpPr>
          <p:cNvPr id="23859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l" eaLnBrk="1" hangingPunct="1"/>
            <a:fld id="{D5065F86-E946-4E79-8F78-30EE744D959F}" type="slidenum">
              <a:rPr lang="en-US" altLang="en-US" smtClean="0">
                <a:solidFill>
                  <a:srgbClr val="898989"/>
                </a:solidFill>
              </a:rPr>
              <a:pPr algn="l" eaLnBrk="1" hangingPunct="1"/>
              <a:t>19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38341" name="Rectangle 5"/>
          <p:cNvSpPr>
            <a:spLocks noChangeArrowheads="1"/>
          </p:cNvSpPr>
          <p:nvPr/>
        </p:nvSpPr>
        <p:spPr bwMode="auto">
          <a:xfrm>
            <a:off x="2617788" y="2332038"/>
            <a:ext cx="184150" cy="822325"/>
          </a:xfrm>
          <a:prstGeom prst="rect">
            <a:avLst/>
          </a:prstGeom>
          <a:noFill/>
          <a:ln w="25400" algn="ctr">
            <a:noFill/>
            <a:miter lim="800000"/>
            <a:headEnd type="none" w="lg" len="med"/>
            <a:tailEnd type="none" w="lg" len="med"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>
                <a:solidFill>
                  <a:prstClr val="black"/>
                </a:solidFill>
                <a:latin typeface="Calibri"/>
                <a:cs typeface="+mn-cs"/>
              </a:rPr>
            </a:br>
            <a:endParaRPr lang="en-US" sz="240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6888" y="785813"/>
            <a:ext cx="5486400" cy="546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2575" indent="-282575" eaLnBrk="0" fontAlgn="auto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  <a:cs typeface="+mn-cs"/>
              </a:rPr>
              <a:t>table-colspan-rowspan.html</a:t>
            </a:r>
            <a:endParaRPr lang="bg-BG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  <a:cs typeface="+mn-cs"/>
            </a:endParaRPr>
          </a:p>
        </p:txBody>
      </p:sp>
      <p:grpSp>
        <p:nvGrpSpPr>
          <p:cNvPr id="238600" name="Group 6"/>
          <p:cNvGrpSpPr>
            <a:grpSpLocks/>
          </p:cNvGrpSpPr>
          <p:nvPr/>
        </p:nvGrpSpPr>
        <p:grpSpPr bwMode="auto">
          <a:xfrm>
            <a:off x="2627313" y="3351213"/>
            <a:ext cx="5472112" cy="2592387"/>
            <a:chOff x="1649" y="1987"/>
            <a:chExt cx="2463" cy="864"/>
          </a:xfrm>
        </p:grpSpPr>
        <p:sp>
          <p:nvSpPr>
            <p:cNvPr id="238601" name="Rectangle 7"/>
            <p:cNvSpPr>
              <a:spLocks noChangeArrowheads="1"/>
            </p:cNvSpPr>
            <p:nvPr/>
          </p:nvSpPr>
          <p:spPr bwMode="auto">
            <a:xfrm>
              <a:off x="3291" y="2563"/>
              <a:ext cx="821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Cell[2,3]</a:t>
              </a:r>
            </a:p>
          </p:txBody>
        </p:sp>
        <p:sp>
          <p:nvSpPr>
            <p:cNvPr id="238602" name="Rectangle 8"/>
            <p:cNvSpPr>
              <a:spLocks noChangeArrowheads="1"/>
            </p:cNvSpPr>
            <p:nvPr/>
          </p:nvSpPr>
          <p:spPr bwMode="auto">
            <a:xfrm>
              <a:off x="1649" y="2563"/>
              <a:ext cx="821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Cell[1,3]</a:t>
              </a:r>
            </a:p>
          </p:txBody>
        </p:sp>
        <p:sp>
          <p:nvSpPr>
            <p:cNvPr id="238603" name="Rectangle 9"/>
            <p:cNvSpPr>
              <a:spLocks noChangeArrowheads="1"/>
            </p:cNvSpPr>
            <p:nvPr/>
          </p:nvSpPr>
          <p:spPr bwMode="auto">
            <a:xfrm>
              <a:off x="3291" y="2275"/>
              <a:ext cx="821" cy="288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Cell[3,2]</a:t>
              </a:r>
            </a:p>
          </p:txBody>
        </p:sp>
        <p:sp>
          <p:nvSpPr>
            <p:cNvPr id="238604" name="Rectangle 10"/>
            <p:cNvSpPr>
              <a:spLocks noChangeArrowheads="1"/>
            </p:cNvSpPr>
            <p:nvPr/>
          </p:nvSpPr>
          <p:spPr bwMode="auto">
            <a:xfrm>
              <a:off x="2470" y="2275"/>
              <a:ext cx="821" cy="576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Cell[2,2]</a:t>
              </a:r>
            </a:p>
          </p:txBody>
        </p:sp>
        <p:sp>
          <p:nvSpPr>
            <p:cNvPr id="238605" name="Rectangle 11"/>
            <p:cNvSpPr>
              <a:spLocks noChangeArrowheads="1"/>
            </p:cNvSpPr>
            <p:nvPr/>
          </p:nvSpPr>
          <p:spPr bwMode="auto">
            <a:xfrm>
              <a:off x="1649" y="2275"/>
              <a:ext cx="821" cy="288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Cell[1,2]</a:t>
              </a:r>
            </a:p>
          </p:txBody>
        </p:sp>
        <p:sp>
          <p:nvSpPr>
            <p:cNvPr id="238606" name="Rectangle 12"/>
            <p:cNvSpPr>
              <a:spLocks noChangeArrowheads="1"/>
            </p:cNvSpPr>
            <p:nvPr/>
          </p:nvSpPr>
          <p:spPr bwMode="auto">
            <a:xfrm>
              <a:off x="2470" y="1987"/>
              <a:ext cx="164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Cell[2,1]</a:t>
              </a:r>
            </a:p>
          </p:txBody>
        </p:sp>
        <p:sp>
          <p:nvSpPr>
            <p:cNvPr id="238607" name="Rectangle 13"/>
            <p:cNvSpPr>
              <a:spLocks noChangeArrowheads="1"/>
            </p:cNvSpPr>
            <p:nvPr/>
          </p:nvSpPr>
          <p:spPr bwMode="auto">
            <a:xfrm>
              <a:off x="1649" y="1987"/>
              <a:ext cx="821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 type="none" w="lg" len="med"/>
                  <a:tailEnd type="none" w="lg" len="med"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Consolas" pitchFamily="49" charset="0"/>
                  <a:cs typeface="Consolas" pitchFamily="49" charset="0"/>
                </a:rPr>
                <a:t>Cell[1,1]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649" y="1963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649" y="2827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616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080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649" y="2275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470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649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291" y="2275"/>
              <a:ext cx="0" cy="576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291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68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0070C0"/>
                </a:solidFill>
              </a:rPr>
              <a:t>SIMPLE EXAMPLE</a:t>
            </a:r>
            <a:endParaRPr lang="en-IN" altLang="en-US" sz="280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&lt;table&gt;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</a:t>
            </a:r>
            <a:r>
              <a:rPr lang="en-IN" dirty="0" err="1"/>
              <a:t>tr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</a:t>
            </a:r>
            <a:r>
              <a:rPr lang="en-IN" dirty="0" err="1"/>
              <a:t>th</a:t>
            </a:r>
            <a:r>
              <a:rPr lang="en-IN" dirty="0"/>
              <a:t>&gt;Name&lt;/</a:t>
            </a:r>
            <a:r>
              <a:rPr lang="en-IN" dirty="0" err="1"/>
              <a:t>th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</a:t>
            </a:r>
            <a:r>
              <a:rPr lang="en-IN" dirty="0" err="1"/>
              <a:t>th</a:t>
            </a:r>
            <a:r>
              <a:rPr lang="en-IN" dirty="0"/>
              <a:t>&gt;Favorite Color&lt;/</a:t>
            </a:r>
            <a:r>
              <a:rPr lang="en-IN" dirty="0" err="1"/>
              <a:t>th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&lt;/</a:t>
            </a:r>
            <a:r>
              <a:rPr lang="en-IN" dirty="0" err="1"/>
              <a:t>tr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</a:t>
            </a:r>
            <a:r>
              <a:rPr lang="en-IN" dirty="0" err="1"/>
              <a:t>tr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&lt;td&gt;Bob&lt;/td&gt;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&lt;td&gt;Yellow&lt;/td&gt;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&lt;/</a:t>
            </a:r>
            <a:r>
              <a:rPr lang="en-IN" dirty="0" err="1"/>
              <a:t>tr</a:t>
            </a:r>
            <a:r>
              <a:rPr lang="en-IN" dirty="0"/>
              <a:t>&gt;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 &lt;</a:t>
            </a:r>
            <a:r>
              <a:rPr lang="en-IN" dirty="0" err="1"/>
              <a:t>tr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&lt;td&gt;Michelle&lt;/td&gt;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 &lt;td&gt;Purple&lt;/td&gt;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&lt;/</a:t>
            </a:r>
            <a:r>
              <a:rPr lang="en-IN" dirty="0" err="1"/>
              <a:t>tr</a:t>
            </a:r>
            <a:r>
              <a:rPr lang="en-IN" dirty="0"/>
              <a:t>&gt;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&lt;/table&gt;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41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Sample Code without Borders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&lt;table&gt;</a:t>
            </a:r>
          </a:p>
          <a:p>
            <a:pPr marL="0" indent="0">
              <a:buNone/>
            </a:pPr>
            <a:r>
              <a:rPr lang="en-US" dirty="0"/>
              <a:t>   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&lt;td&gt;Item A1&lt;/td&gt;</a:t>
            </a:r>
          </a:p>
          <a:p>
            <a:pPr marL="0" indent="0">
              <a:buNone/>
            </a:pPr>
            <a:r>
              <a:rPr lang="en-US" dirty="0"/>
              <a:t>      &lt;td&gt;Item A2&lt;/td&gt;</a:t>
            </a:r>
          </a:p>
          <a:p>
            <a:pPr marL="0" indent="0">
              <a:buNone/>
            </a:pPr>
            <a:r>
              <a:rPr lang="en-US" dirty="0"/>
              <a:t>      &lt;td&gt;Item A3&lt;/td&gt;</a:t>
            </a:r>
          </a:p>
          <a:p>
            <a:pPr marL="0" indent="0">
              <a:buNone/>
            </a:pPr>
            <a:r>
              <a:rPr lang="en-US" dirty="0"/>
              <a:t>   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&lt;td&gt;Item B1&lt;/td&gt;</a:t>
            </a:r>
          </a:p>
          <a:p>
            <a:pPr marL="0" indent="0">
              <a:buNone/>
            </a:pPr>
            <a:r>
              <a:rPr lang="en-US" dirty="0"/>
              <a:t>      &lt;td&gt;Item B2&lt;/td&gt;</a:t>
            </a:r>
          </a:p>
          <a:p>
            <a:pPr marL="0" indent="0">
              <a:buNone/>
            </a:pPr>
            <a:r>
              <a:rPr lang="en-US" dirty="0"/>
              <a:t>      &lt;td&gt;(this is B3)&lt;/td&gt;</a:t>
            </a:r>
          </a:p>
          <a:p>
            <a:pPr marL="0" indent="0">
              <a:buNone/>
            </a:pPr>
            <a:r>
              <a:rPr lang="en-US" dirty="0"/>
              <a:t>   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&lt;td&gt;Item C1&lt;/td&gt;</a:t>
            </a:r>
          </a:p>
          <a:p>
            <a:pPr marL="0" indent="0">
              <a:buNone/>
            </a:pPr>
            <a:r>
              <a:rPr lang="en-US" dirty="0"/>
              <a:t>      &lt;td&gt;-C2-&lt;/td&gt;</a:t>
            </a:r>
          </a:p>
          <a:p>
            <a:pPr marL="0" indent="0">
              <a:buNone/>
            </a:pPr>
            <a:r>
              <a:rPr lang="en-US" dirty="0"/>
              <a:t>      &lt;td&gt;*C3*&lt;/td&gt;</a:t>
            </a:r>
          </a:p>
          <a:p>
            <a:pPr marL="0" indent="0">
              <a:buNone/>
            </a:pPr>
            <a:r>
              <a:rPr lang="en-US" dirty="0"/>
              <a:t>   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&lt;td&gt;Item number D1&lt;/td&gt;</a:t>
            </a:r>
          </a:p>
          <a:p>
            <a:pPr marL="0" indent="0">
              <a:buNone/>
            </a:pPr>
            <a:r>
              <a:rPr lang="en-US" dirty="0"/>
              <a:t>      &lt;td&gt;Item D2&lt;/td&gt;</a:t>
            </a:r>
          </a:p>
          <a:p>
            <a:pPr marL="0" indent="0">
              <a:buNone/>
            </a:pPr>
            <a:r>
              <a:rPr lang="en-US" dirty="0"/>
              <a:t>      &lt;td&gt;Item D3&lt;/td&gt;</a:t>
            </a:r>
          </a:p>
          <a:p>
            <a:pPr marL="0" indent="0">
              <a:buNone/>
            </a:pPr>
            <a:r>
              <a:rPr lang="en-US" dirty="0"/>
              <a:t>   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&lt;/table&gt;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247977"/>
              </p:ext>
            </p:extLst>
          </p:nvPr>
        </p:nvGraphicFramePr>
        <p:xfrm>
          <a:off x="3810000" y="1828799"/>
          <a:ext cx="4953000" cy="29718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lang="en-US" dirty="0"/>
                        <a:t>Item A1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A2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Item A3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/>
                        <a:t>Item B1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B2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(this is B3)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/>
                        <a:t>Item 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-C2-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*C3*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/>
                        <a:t>Item number 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Item D2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934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 following to this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Add borders</a:t>
            </a:r>
          </a:p>
          <a:p>
            <a:pPr marL="514350" indent="-514350">
              <a:buAutoNum type="arabicPeriod"/>
            </a:pPr>
            <a:r>
              <a:rPr lang="en-US" dirty="0"/>
              <a:t>Add cell padding </a:t>
            </a:r>
          </a:p>
          <a:p>
            <a:pPr marL="514350" indent="-514350">
              <a:buAutoNum type="arabicPeriod"/>
            </a:pPr>
            <a:r>
              <a:rPr lang="en-US" dirty="0"/>
              <a:t>Add header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009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Table Creation-Exercise</a:t>
            </a:r>
          </a:p>
        </p:txBody>
      </p:sp>
      <p:sp>
        <p:nvSpPr>
          <p:cNvPr id="2406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Create  a table  as shown below using table tags</a:t>
            </a:r>
          </a:p>
          <a:p>
            <a:pPr eaLnBrk="1" hangingPunct="1">
              <a:buFont typeface="Arial" charset="0"/>
              <a:buNone/>
            </a:pPr>
            <a:endParaRPr lang="en-US" alt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708125"/>
              </p:ext>
            </p:extLst>
          </p:nvPr>
        </p:nvGraphicFramePr>
        <p:xfrm>
          <a:off x="1295400" y="28194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  <a:r>
                        <a:rPr lang="en-US" baseline="0" dirty="0"/>
                        <a:t>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19CSE101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19CSE103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19CSE102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19MAT100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27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complex table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81124"/>
            <a:ext cx="7772399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2723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Graphical User Interface Design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GUI / UI Design </a:t>
            </a:r>
          </a:p>
        </p:txBody>
      </p:sp>
    </p:spTree>
    <p:extLst>
      <p:ext uri="{BB962C8B-B14F-4D97-AF65-F5344CB8AC3E}">
        <p14:creationId xmlns:p14="http://schemas.microsoft.com/office/powerpoint/2010/main" val="86753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HTML - Forms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31" y="914401"/>
            <a:ext cx="8741869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6669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Allows user to interact with data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Forms are used to create (rather primitive) GUIs on Web pages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Usually the purpose is to ask the user for information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The information is then sent back to the server</a:t>
            </a:r>
          </a:p>
          <a:p>
            <a:r>
              <a:rPr lang="en-US" dirty="0"/>
              <a:t>You can create forms with ordinary HTML, but to make them </a:t>
            </a:r>
            <a:r>
              <a:rPr lang="en-US" i="1" dirty="0"/>
              <a:t>do </a:t>
            </a:r>
            <a:r>
              <a:rPr lang="en-US" dirty="0"/>
              <a:t>something, you need a programming language </a:t>
            </a:r>
            <a:r>
              <a:rPr lang="en-US" dirty="0">
                <a:solidFill>
                  <a:srgbClr val="FF0000"/>
                </a:solidFill>
              </a:rPr>
              <a:t>– We shall look at Java Script for this later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44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form?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953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chemeClr val="tx2"/>
                </a:solidFill>
              </a:rPr>
              <a:t>form</a:t>
            </a:r>
            <a:r>
              <a:rPr lang="en-US" altLang="en-US" sz="2800" dirty="0"/>
              <a:t> is an area that can contain </a:t>
            </a:r>
            <a:r>
              <a:rPr lang="en-US" altLang="en-US" sz="2800" dirty="0">
                <a:solidFill>
                  <a:schemeClr val="tx2"/>
                </a:solidFill>
              </a:rPr>
              <a:t>form elements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syntax is: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&lt;form </a:t>
            </a:r>
            <a:r>
              <a:rPr lang="en-US" altLang="en-US" sz="2400" b="1" i="1" dirty="0">
                <a:solidFill>
                  <a:schemeClr val="hlink"/>
                </a:solidFill>
              </a:rPr>
              <a:t>parameters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&gt;</a:t>
            </a:r>
            <a:r>
              <a:rPr lang="en-US" altLang="en-US" sz="2400" b="1" dirty="0">
                <a:solidFill>
                  <a:schemeClr val="hlink"/>
                </a:solidFill>
              </a:rPr>
              <a:t> </a:t>
            </a:r>
            <a:r>
              <a:rPr lang="en-US" altLang="en-US" sz="2400" b="1" i="1" dirty="0">
                <a:solidFill>
                  <a:schemeClr val="hlink"/>
                </a:solidFill>
              </a:rPr>
              <a:t>...form elements...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&lt;/form&gt;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Form elements include: buttons, checkboxes, text fields, radio buttons, drop-down menus,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Other kinds of tags can be mixed in with the form elements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 form usually contains a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Submit</a:t>
            </a:r>
            <a:r>
              <a:rPr lang="en-US" altLang="en-US" sz="2400" dirty="0"/>
              <a:t> button to send the information in he form elements to the server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form’s </a:t>
            </a:r>
            <a:r>
              <a:rPr lang="en-US" altLang="en-US" sz="2400" b="1" i="1" dirty="0">
                <a:solidFill>
                  <a:schemeClr val="hlink"/>
                </a:solidFill>
              </a:rPr>
              <a:t>parameters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tell JavaScript how to send the information to the server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Forms can be used for other things, such as a GUI for simple programs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20205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16E13-F9BA-4239-AADF-AD6AACFC2886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Forms and JavaScript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chemeClr val="tx2"/>
                </a:solidFill>
              </a:rPr>
              <a:t>JavaScript</a:t>
            </a:r>
            <a:r>
              <a:rPr lang="en-US" altLang="en-US" sz="2400" dirty="0"/>
              <a:t> language can be used to make pages that “do something”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You </a:t>
            </a:r>
            <a:r>
              <a:rPr lang="en-US" altLang="en-US" sz="2000" i="1" dirty="0"/>
              <a:t>can</a:t>
            </a:r>
            <a:r>
              <a:rPr lang="en-US" altLang="en-US" sz="2000" dirty="0"/>
              <a:t> use JavaScript to write complete programs, but...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Usually you just use snippets of JavaScript here and there throughout your Web page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JavaScript code snippets can be attached to various form elements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For example, you might want to check that a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 err="1">
                <a:solidFill>
                  <a:schemeClr val="accent2"/>
                </a:solidFill>
                <a:latin typeface="Trebuchet MS" pitchFamily="1" charset="0"/>
              </a:rPr>
              <a:t>zipcode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field contains a 5-digit integer before you send that information to the server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Microsoft calls its version of JavaScript “active scripting”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Forms can be used without JavaScript, and JavaScript can be used without forms, but they work well together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JavaScript for forms is covered later</a:t>
            </a:r>
          </a:p>
        </p:txBody>
      </p:sp>
    </p:spTree>
    <p:extLst>
      <p:ext uri="{BB962C8B-B14F-4D97-AF65-F5344CB8AC3E}">
        <p14:creationId xmlns:p14="http://schemas.microsoft.com/office/powerpoint/2010/main" val="2494449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Syntax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form elements</a:t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&lt;/form&gt;</a:t>
            </a:r>
          </a:p>
          <a:p>
            <a:r>
              <a:rPr lang="en-US" dirty="0"/>
              <a:t>An HTML form contains </a:t>
            </a:r>
            <a:r>
              <a:rPr lang="en-US" b="1" dirty="0"/>
              <a:t>form elements</a:t>
            </a:r>
            <a:r>
              <a:rPr lang="en-US" dirty="0"/>
              <a:t>.</a:t>
            </a:r>
          </a:p>
          <a:p>
            <a:r>
              <a:rPr lang="en-US" dirty="0"/>
              <a:t>Form elements are different types of input elements, like text fields, checkboxes, radio buttons, submit buttons, and more.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2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F65880-A8A1-4325-8E07-8C08B0BA4C0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solidFill>
                  <a:schemeClr val="tx1"/>
                </a:solidFill>
                <a:latin typeface="Trebuchet MS" pitchFamily="1" charset="0"/>
              </a:rPr>
              <a:t>&lt;form&gt;</a:t>
            </a:r>
            <a:r>
              <a:rPr lang="en-US" altLang="en-US"/>
              <a:t> tag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&lt;form </a:t>
            </a:r>
            <a:r>
              <a:rPr lang="en-US" altLang="en-US" sz="2400" b="1" i="1">
                <a:solidFill>
                  <a:schemeClr val="hlink"/>
                </a:solidFill>
              </a:rPr>
              <a:t>arguments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&gt; ... &lt;/form&gt;</a:t>
            </a:r>
            <a:r>
              <a:rPr lang="en-US" altLang="en-US" sz="2400"/>
              <a:t> tag encloses form elements (and probably other elements as well)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arguments to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form</a:t>
            </a:r>
            <a:r>
              <a:rPr lang="en-US" altLang="en-US" sz="2400"/>
              <a:t> tell what to do with the user input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action="</a:t>
            </a:r>
            <a:r>
              <a:rPr lang="en-US" altLang="en-US" sz="2000" b="1" i="1">
                <a:solidFill>
                  <a:schemeClr val="hlink"/>
                </a:solidFill>
              </a:rPr>
              <a:t>url</a:t>
            </a:r>
            <a:r>
              <a:rPr lang="en-US" altLang="en-US" sz="2000">
                <a:solidFill>
                  <a:schemeClr val="accent2"/>
                </a:solidFill>
              </a:rPr>
              <a:t>"	</a:t>
            </a:r>
            <a:r>
              <a:rPr lang="en-US" altLang="en-US" sz="2000"/>
              <a:t>(required)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Specifies where to send the data when the</a:t>
            </a:r>
            <a:r>
              <a:rPr lang="en-US" altLang="en-US" sz="1800">
                <a:solidFill>
                  <a:schemeClr val="accent2"/>
                </a:solidFill>
              </a:rPr>
              <a:t>  </a:t>
            </a: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Submit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/>
              <a:t>button is clicked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method="get"</a:t>
            </a:r>
            <a:r>
              <a:rPr lang="en-US" altLang="en-US" sz="2000"/>
              <a:t>	(default)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Form data is sent as a URL with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?form_data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/>
              <a:t>info appended to the end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Can be used </a:t>
            </a:r>
            <a:r>
              <a:rPr lang="en-US" altLang="en-US" sz="1800" i="1"/>
              <a:t>only</a:t>
            </a:r>
            <a:r>
              <a:rPr lang="en-US" altLang="en-US" sz="1800"/>
              <a:t> if data is all ASCII and not more than 100 characters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method="post"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Form data is sent in the body of the URL request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Cannot be bookmarked by most browsers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target="</a:t>
            </a:r>
            <a:r>
              <a:rPr lang="en-US" altLang="en-US" sz="2000" b="1" i="1">
                <a:solidFill>
                  <a:schemeClr val="hlink"/>
                </a:solidFill>
              </a:rPr>
              <a:t>target</a:t>
            </a: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"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Tells where to open the page sent as a result of the request</a:t>
            </a:r>
          </a:p>
          <a:p>
            <a:pPr lvl="2">
              <a:lnSpc>
                <a:spcPct val="90000"/>
              </a:lnSpc>
            </a:pPr>
            <a:r>
              <a:rPr lang="en-US" altLang="en-US" sz="1800" b="1" i="1">
                <a:solidFill>
                  <a:schemeClr val="hlink"/>
                </a:solidFill>
              </a:rPr>
              <a:t>target</a:t>
            </a:r>
            <a:r>
              <a:rPr lang="en-US" altLang="en-US" sz="1800" b="1">
                <a:solidFill>
                  <a:schemeClr val="accent2"/>
                </a:solidFill>
              </a:rPr>
              <a:t>=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_blank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/>
              <a:t>means open in a new window</a:t>
            </a:r>
          </a:p>
          <a:p>
            <a:pPr lvl="2">
              <a:lnSpc>
                <a:spcPct val="90000"/>
              </a:lnSpc>
            </a:pPr>
            <a:r>
              <a:rPr lang="en-US" altLang="en-US" sz="1800" b="1" i="1">
                <a:solidFill>
                  <a:schemeClr val="hlink"/>
                </a:solidFill>
              </a:rPr>
              <a:t>target</a:t>
            </a:r>
            <a:r>
              <a:rPr lang="en-US" altLang="en-US" sz="1800" b="1">
                <a:solidFill>
                  <a:schemeClr val="accent2"/>
                </a:solidFill>
              </a:rPr>
              <a:t>=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_top</a:t>
            </a:r>
            <a:r>
              <a:rPr lang="en-US" altLang="en-US" sz="1800"/>
              <a:t> means use the same window</a:t>
            </a:r>
          </a:p>
        </p:txBody>
      </p:sp>
    </p:spTree>
    <p:extLst>
      <p:ext uri="{BB962C8B-B14F-4D97-AF65-F5344CB8AC3E}">
        <p14:creationId xmlns:p14="http://schemas.microsoft.com/office/powerpoint/2010/main" val="2931569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altLang="en-US" b="1" u="sng"/>
              <a:t>Forms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181600"/>
          </a:xfrm>
        </p:spPr>
        <p:txBody>
          <a:bodyPr/>
          <a:lstStyle/>
          <a:p>
            <a:r>
              <a:rPr lang="en-US" altLang="en-US" b="1"/>
              <a:t>The FORM element is used to create a data input form.</a:t>
            </a:r>
          </a:p>
          <a:p>
            <a:r>
              <a:rPr lang="en-US" altLang="en-US" b="1"/>
              <a:t>A region using forms is enclosed within the &lt;FORM&gt; &lt;/FORM&gt; tags.</a:t>
            </a:r>
          </a:p>
          <a:p>
            <a:r>
              <a:rPr lang="en-US" altLang="en-US" b="1"/>
              <a:t>A document can have several forms, but the forms should not be embedded.</a:t>
            </a:r>
          </a:p>
          <a:p>
            <a:r>
              <a:rPr lang="en-US" altLang="en-US" b="1"/>
              <a:t>The FORM element has three attributes:</a:t>
            </a:r>
          </a:p>
          <a:p>
            <a:pPr lvl="1"/>
            <a:r>
              <a:rPr lang="en-US" altLang="en-US" b="1"/>
              <a:t>ACTION, METHOD, and ENCTYPE.</a:t>
            </a:r>
          </a:p>
        </p:txBody>
      </p:sp>
    </p:spTree>
    <p:extLst>
      <p:ext uri="{BB962C8B-B14F-4D97-AF65-F5344CB8AC3E}">
        <p14:creationId xmlns:p14="http://schemas.microsoft.com/office/powerpoint/2010/main" val="3960185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Forms</a:t>
            </a:r>
            <a:endParaRPr lang="en-US" altLang="en-US" b="1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638800"/>
          </a:xfrm>
        </p:spPr>
        <p:txBody>
          <a:bodyPr/>
          <a:lstStyle/>
          <a:p>
            <a:r>
              <a:rPr lang="en-US" altLang="en-US" b="1"/>
              <a:t>METHOD:</a:t>
            </a:r>
          </a:p>
          <a:p>
            <a:pPr lvl="1"/>
            <a:r>
              <a:rPr lang="en-US" altLang="en-US" b="1"/>
              <a:t>Specifies the way in which the data from the user are encoded.</a:t>
            </a:r>
          </a:p>
          <a:p>
            <a:pPr lvl="1"/>
            <a:r>
              <a:rPr lang="en-US" altLang="en-US" b="1"/>
              <a:t>The default METHOD is GET, although the POST method is preferred.</a:t>
            </a:r>
          </a:p>
          <a:p>
            <a:pPr lvl="1"/>
            <a:r>
              <a:rPr lang="en-US" altLang="en-US" b="1"/>
              <a:t>GET:  The CGI program receives the encoded form input in the QUERY_STRING variable, which follows the “?” in the URL that calls the script.</a:t>
            </a:r>
          </a:p>
          <a:p>
            <a:pPr lvl="1"/>
            <a:r>
              <a:rPr lang="en-US" altLang="en-US" b="1"/>
              <a:t>POST: The CGI script or program receives the encoded form input in its standard input stream. The CONTENT_LENGTH must be used.</a:t>
            </a:r>
          </a:p>
          <a:p>
            <a:pPr lvl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1649037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Forms</a:t>
            </a:r>
            <a:endParaRPr lang="en-US" altLang="en-US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5334000"/>
          </a:xfrm>
        </p:spPr>
        <p:txBody>
          <a:bodyPr/>
          <a:lstStyle/>
          <a:p>
            <a:r>
              <a:rPr lang="en-US" altLang="en-US" b="1"/>
              <a:t>ACTION:</a:t>
            </a:r>
          </a:p>
          <a:p>
            <a:pPr lvl="1"/>
            <a:r>
              <a:rPr lang="en-US" altLang="en-US" b="1"/>
              <a:t>Specifies the destination URL to which the form should be submitted, once it has been completed by the user.</a:t>
            </a:r>
          </a:p>
          <a:p>
            <a:pPr lvl="1"/>
            <a:r>
              <a:rPr lang="en-US" altLang="en-US" b="1"/>
              <a:t>If no URL is specified, the URL of the current document containing the form is used.</a:t>
            </a:r>
          </a:p>
          <a:p>
            <a:pPr lvl="1"/>
            <a:r>
              <a:rPr lang="en-US" altLang="en-US" b="1"/>
              <a:t>MAILTO Action:  The data from the form is mailed to the specified E-mail address.  Use the POST method.</a:t>
            </a:r>
          </a:p>
        </p:txBody>
      </p:sp>
    </p:spTree>
    <p:extLst>
      <p:ext uri="{BB962C8B-B14F-4D97-AF65-F5344CB8AC3E}">
        <p14:creationId xmlns:p14="http://schemas.microsoft.com/office/powerpoint/2010/main" val="3472568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Forms</a:t>
            </a:r>
            <a:endParaRPr lang="en-US" altLang="en-US" b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382000" cy="5410200"/>
          </a:xfrm>
        </p:spPr>
        <p:txBody>
          <a:bodyPr/>
          <a:lstStyle/>
          <a:p>
            <a:r>
              <a:rPr lang="en-US" altLang="en-US" b="1"/>
              <a:t>ENCTYPE:</a:t>
            </a:r>
          </a:p>
          <a:p>
            <a:pPr lvl="1"/>
            <a:r>
              <a:rPr lang="en-US" altLang="en-US" b="1"/>
              <a:t>Tell the browser how the data from a form should be encoded when it is returned to the server.</a:t>
            </a:r>
          </a:p>
          <a:p>
            <a:pPr lvl="1"/>
            <a:r>
              <a:rPr lang="en-US" altLang="en-US" b="1"/>
              <a:t>The default is “application/x-www-form-urlencoded” that converts spaces to “+” and uses “&amp;” to delineated different data fields.</a:t>
            </a:r>
          </a:p>
          <a:p>
            <a:pPr lvl="1">
              <a:buFontTx/>
              <a:buNone/>
            </a:pPr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1528067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b="1"/>
              <a:t>Form Processing</a:t>
            </a:r>
          </a:p>
        </p:txBody>
      </p:sp>
      <p:sp>
        <p:nvSpPr>
          <p:cNvPr id="4100" name="Oval 4"/>
          <p:cNvSpPr>
            <a:spLocks noChangeArrowheads="1"/>
          </p:cNvSpPr>
          <p:nvPr/>
        </p:nvSpPr>
        <p:spPr bwMode="auto">
          <a:xfrm>
            <a:off x="304800" y="2438400"/>
            <a:ext cx="1143000" cy="1447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User</a:t>
            </a:r>
          </a:p>
        </p:txBody>
      </p:sp>
      <p:sp>
        <p:nvSpPr>
          <p:cNvPr id="4101" name="Oval 5"/>
          <p:cNvSpPr>
            <a:spLocks noChangeArrowheads="1"/>
          </p:cNvSpPr>
          <p:nvPr/>
        </p:nvSpPr>
        <p:spPr bwMode="auto">
          <a:xfrm>
            <a:off x="2743200" y="1219200"/>
            <a:ext cx="533400" cy="426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B</a:t>
            </a:r>
          </a:p>
          <a:p>
            <a:pPr algn="ctr"/>
            <a:r>
              <a:rPr lang="en-US" altLang="en-US" b="1"/>
              <a:t>r</a:t>
            </a:r>
          </a:p>
          <a:p>
            <a:pPr algn="ctr"/>
            <a:r>
              <a:rPr lang="en-US" altLang="en-US" b="1"/>
              <a:t>o</a:t>
            </a:r>
          </a:p>
          <a:p>
            <a:pPr algn="ctr"/>
            <a:r>
              <a:rPr lang="en-US" altLang="en-US" b="1"/>
              <a:t>w</a:t>
            </a:r>
          </a:p>
          <a:p>
            <a:pPr algn="ctr"/>
            <a:r>
              <a:rPr lang="en-US" altLang="en-US" b="1"/>
              <a:t>s</a:t>
            </a:r>
          </a:p>
          <a:p>
            <a:pPr algn="ctr"/>
            <a:r>
              <a:rPr lang="en-US" altLang="en-US" b="1"/>
              <a:t>e</a:t>
            </a:r>
          </a:p>
          <a:p>
            <a:pPr algn="ctr"/>
            <a:r>
              <a:rPr lang="en-US" altLang="en-US" b="1"/>
              <a:t>r</a:t>
            </a:r>
          </a:p>
        </p:txBody>
      </p:sp>
      <p:sp>
        <p:nvSpPr>
          <p:cNvPr id="4102" name="Oval 6"/>
          <p:cNvSpPr>
            <a:spLocks noChangeArrowheads="1"/>
          </p:cNvSpPr>
          <p:nvPr/>
        </p:nvSpPr>
        <p:spPr bwMode="auto">
          <a:xfrm>
            <a:off x="4343400" y="2667000"/>
            <a:ext cx="1524000" cy="1219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Web </a:t>
            </a:r>
          </a:p>
          <a:p>
            <a:pPr algn="ctr"/>
            <a:r>
              <a:rPr lang="en-US" altLang="en-US" b="1"/>
              <a:t>Server</a:t>
            </a:r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6858000" y="2743200"/>
            <a:ext cx="1600200" cy="1066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800" b="1"/>
              <a:t>Form</a:t>
            </a:r>
          </a:p>
          <a:p>
            <a:pPr algn="ctr"/>
            <a:r>
              <a:rPr lang="en-US" altLang="en-US" sz="1800" b="1"/>
              <a:t>Processing</a:t>
            </a:r>
          </a:p>
          <a:p>
            <a:pPr algn="ctr"/>
            <a:r>
              <a:rPr lang="en-US" altLang="en-US" sz="1800" b="1"/>
              <a:t>Program</a:t>
            </a:r>
          </a:p>
          <a:p>
            <a:pPr algn="ctr"/>
            <a:r>
              <a:rPr lang="en-US" altLang="en-US" sz="1800" b="1"/>
              <a:t>(CGI)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676400" y="28194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 flipH="1">
            <a:off x="1524000" y="3657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1431925" y="3848100"/>
            <a:ext cx="895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Output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1584325" y="2324100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Input</a:t>
            </a:r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>
            <a:off x="3352800" y="1828800"/>
            <a:ext cx="13716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>
            <a:off x="3352800" y="33528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7"/>
          <p:cNvSpPr>
            <a:spLocks noChangeShapeType="1"/>
          </p:cNvSpPr>
          <p:nvPr/>
        </p:nvSpPr>
        <p:spPr bwMode="auto">
          <a:xfrm flipH="1">
            <a:off x="3276600" y="3810000"/>
            <a:ext cx="1371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5" name="Line 19"/>
          <p:cNvSpPr>
            <a:spLocks noChangeShapeType="1"/>
          </p:cNvSpPr>
          <p:nvPr/>
        </p:nvSpPr>
        <p:spPr bwMode="auto">
          <a:xfrm>
            <a:off x="5791200" y="2971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Line 20"/>
          <p:cNvSpPr>
            <a:spLocks noChangeShapeType="1"/>
          </p:cNvSpPr>
          <p:nvPr/>
        </p:nvSpPr>
        <p:spPr bwMode="auto">
          <a:xfrm flipH="1">
            <a:off x="5791200" y="3581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Text Box 21"/>
          <p:cNvSpPr txBox="1">
            <a:spLocks noChangeArrowheads="1"/>
          </p:cNvSpPr>
          <p:nvPr/>
        </p:nvSpPr>
        <p:spPr bwMode="auto">
          <a:xfrm>
            <a:off x="5699125" y="2247900"/>
            <a:ext cx="1193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800" b="1"/>
              <a:t>Data from</a:t>
            </a:r>
          </a:p>
          <a:p>
            <a:pPr algn="ctr"/>
            <a:r>
              <a:rPr lang="en-US" altLang="en-US" sz="1800" b="1"/>
              <a:t>Form</a:t>
            </a:r>
          </a:p>
        </p:txBody>
      </p:sp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1187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800" b="1"/>
              <a:t>HTML</a:t>
            </a:r>
          </a:p>
          <a:p>
            <a:pPr algn="ctr"/>
            <a:r>
              <a:rPr lang="en-US" altLang="en-US" sz="1800" b="1"/>
              <a:t>Document</a:t>
            </a:r>
          </a:p>
        </p:txBody>
      </p: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2514600" y="5943600"/>
            <a:ext cx="421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u="sng"/>
              <a:t>Flow of Information for Forms</a:t>
            </a:r>
          </a:p>
        </p:txBody>
      </p:sp>
      <p:sp>
        <p:nvSpPr>
          <p:cNvPr id="4121" name="Text Box 25"/>
          <p:cNvSpPr txBox="1">
            <a:spLocks noChangeArrowheads="1"/>
          </p:cNvSpPr>
          <p:nvPr/>
        </p:nvSpPr>
        <p:spPr bwMode="auto">
          <a:xfrm>
            <a:off x="3565525" y="4229100"/>
            <a:ext cx="1187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HTML </a:t>
            </a:r>
          </a:p>
          <a:p>
            <a:r>
              <a:rPr lang="en-US" altLang="en-US" sz="1800" b="1"/>
              <a:t>Document</a:t>
            </a:r>
          </a:p>
        </p:txBody>
      </p: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3276600" y="2667000"/>
            <a:ext cx="1270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800" b="1"/>
              <a:t>Data from</a:t>
            </a:r>
          </a:p>
          <a:p>
            <a:pPr algn="ctr"/>
            <a:r>
              <a:rPr lang="en-US" altLang="en-US" sz="1800" b="1"/>
              <a:t>Form</a:t>
            </a:r>
          </a:p>
        </p:txBody>
      </p:sp>
      <p:sp>
        <p:nvSpPr>
          <p:cNvPr id="4123" name="Text Box 27"/>
          <p:cNvSpPr txBox="1">
            <a:spLocks noChangeArrowheads="1"/>
          </p:cNvSpPr>
          <p:nvPr/>
        </p:nvSpPr>
        <p:spPr bwMode="auto">
          <a:xfrm>
            <a:off x="4038600" y="1676400"/>
            <a:ext cx="93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HTML </a:t>
            </a:r>
          </a:p>
          <a:p>
            <a:r>
              <a:rPr lang="en-US" altLang="en-US" sz="1800" b="1"/>
              <a:t>Form</a:t>
            </a:r>
          </a:p>
        </p:txBody>
      </p:sp>
      <p:sp>
        <p:nvSpPr>
          <p:cNvPr id="4124" name="Rectangle 28"/>
          <p:cNvSpPr>
            <a:spLocks noChangeArrowheads="1"/>
          </p:cNvSpPr>
          <p:nvPr/>
        </p:nvSpPr>
        <p:spPr bwMode="auto">
          <a:xfrm>
            <a:off x="7086600" y="4724400"/>
            <a:ext cx="1295400" cy="106680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600" b="1"/>
              <a:t>Database</a:t>
            </a:r>
          </a:p>
          <a:p>
            <a:pPr algn="ctr"/>
            <a:r>
              <a:rPr lang="en-US" altLang="en-US" sz="1600" b="1"/>
              <a:t>Management</a:t>
            </a:r>
          </a:p>
          <a:p>
            <a:pPr algn="ctr"/>
            <a:r>
              <a:rPr lang="en-US" altLang="en-US" sz="1600" b="1"/>
              <a:t>System</a:t>
            </a:r>
          </a:p>
        </p:txBody>
      </p:sp>
      <p:sp>
        <p:nvSpPr>
          <p:cNvPr id="4126" name="Line 30"/>
          <p:cNvSpPr>
            <a:spLocks noChangeShapeType="1"/>
          </p:cNvSpPr>
          <p:nvPr/>
        </p:nvSpPr>
        <p:spPr bwMode="auto">
          <a:xfrm flipV="1">
            <a:off x="7239000" y="3810000"/>
            <a:ext cx="0" cy="914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7" name="Line 31"/>
          <p:cNvSpPr>
            <a:spLocks noChangeShapeType="1"/>
          </p:cNvSpPr>
          <p:nvPr/>
        </p:nvSpPr>
        <p:spPr bwMode="auto">
          <a:xfrm>
            <a:off x="8153400" y="3810000"/>
            <a:ext cx="0" cy="914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8" name="Text Box 32"/>
          <p:cNvSpPr txBox="1">
            <a:spLocks noChangeArrowheads="1"/>
          </p:cNvSpPr>
          <p:nvPr/>
        </p:nvSpPr>
        <p:spPr bwMode="auto">
          <a:xfrm>
            <a:off x="7391400" y="3962400"/>
            <a:ext cx="6127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b="1"/>
              <a:t>Data</a:t>
            </a:r>
          </a:p>
          <a:p>
            <a:r>
              <a:rPr lang="en-US" altLang="en-US" sz="1600" b="1"/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2628382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Form Elements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>
            <a:noAutofit/>
          </a:bodyPr>
          <a:lstStyle/>
          <a:p>
            <a:r>
              <a:rPr lang="en-US" sz="2400" dirty="0"/>
              <a:t>A form: A container for form elements. Although the form element itself isn’t usually a visible part of the page (like the body tag) </a:t>
            </a:r>
          </a:p>
          <a:p>
            <a:r>
              <a:rPr lang="en-US" sz="2400" dirty="0"/>
              <a:t>Text boxes: These standard form elements allow the user to type text into a one-line element.</a:t>
            </a:r>
          </a:p>
          <a:p>
            <a:r>
              <a:rPr lang="en-US" sz="2400" dirty="0"/>
              <a:t>Password boxes: These boxes are like text boxes, except they automatically obscure the text to discourage snooping.</a:t>
            </a:r>
          </a:p>
          <a:p>
            <a:r>
              <a:rPr lang="en-US" sz="2400" dirty="0"/>
              <a:t>Text areas: These multi-line text boxes accommodate more text than the other types of text boxes. You can specify the size of the text area the user can type into.</a:t>
            </a:r>
          </a:p>
          <a:p>
            <a:r>
              <a:rPr lang="en-US" sz="2400" dirty="0"/>
              <a:t>Select lists: These list boxes give the user a number of options. The user can select one element from the list. You can specify the number of rows to show or make the list drop down when activated.</a:t>
            </a:r>
          </a:p>
        </p:txBody>
      </p:sp>
    </p:spTree>
    <p:extLst>
      <p:ext uri="{BB962C8B-B14F-4D97-AF65-F5344CB8AC3E}">
        <p14:creationId xmlns:p14="http://schemas.microsoft.com/office/powerpoint/2010/main" val="15173268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Form Elements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r>
              <a:rPr lang="en-US" sz="2400" dirty="0"/>
              <a:t>Check boxes: These non-text boxes can be checked or not. Check boxes act independently — more than one can be selected at a time (unlike radio buttons).</a:t>
            </a:r>
          </a:p>
          <a:p>
            <a:r>
              <a:rPr lang="en-US" sz="2400" dirty="0"/>
              <a:t>Radio buttons: Usually found in a group of options, only one radio button in a group can be selected at a time. Selecting one radio button deselects the others in its group.</a:t>
            </a:r>
          </a:p>
          <a:p>
            <a:r>
              <a:rPr lang="en-US" sz="2400" dirty="0"/>
              <a:t>Buttons: These elements let the user begin some kind of process. The Input button is used in JavaScript coding  whereas the Submit buttons are used for server-side programming The Reset button is special because it automatically resets all  the form elements to their default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739119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0BD7F-8D2E-4E3A-84E0-DD301CAC3610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The</a:t>
            </a:r>
            <a:r>
              <a:rPr lang="en-US" altLang="en-US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rebuchet MS" pitchFamily="1" charset="0"/>
              </a:rPr>
              <a:t>&lt;input&gt;</a:t>
            </a:r>
            <a:r>
              <a:rPr lang="en-US" altLang="en-US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dirty="0"/>
              <a:t>tag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5344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The &lt;input&gt; Element</a:t>
            </a:r>
          </a:p>
          <a:p>
            <a:pPr lvl="1"/>
            <a:r>
              <a:rPr lang="en-US" dirty="0"/>
              <a:t>The &lt;input&gt; element is the most important form element. </a:t>
            </a:r>
          </a:p>
          <a:p>
            <a:pPr lvl="1"/>
            <a:r>
              <a:rPr lang="en-US" dirty="0"/>
              <a:t>The &lt;input&gt; element can be displayed in several ways, depending on the </a:t>
            </a:r>
            <a:r>
              <a:rPr lang="en-US" b="1" dirty="0"/>
              <a:t>type</a:t>
            </a:r>
            <a:r>
              <a:rPr lang="en-US" dirty="0"/>
              <a:t> attribute.</a:t>
            </a:r>
          </a:p>
          <a:p>
            <a:r>
              <a:rPr lang="en-US" altLang="en-US" sz="2400" dirty="0"/>
              <a:t>Most, but not all, form elements use the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input</a:t>
            </a:r>
            <a:r>
              <a:rPr lang="en-US" altLang="en-US" sz="2400" dirty="0"/>
              <a:t> tag, with a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type="..."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argument to tell which kind of element it is</a:t>
            </a:r>
          </a:p>
          <a:p>
            <a:pPr lvl="1"/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type</a:t>
            </a:r>
            <a:r>
              <a:rPr lang="en-US" altLang="en-US" sz="2000" dirty="0"/>
              <a:t> can be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text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checkbox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radio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password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hidden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submit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reset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button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file</a:t>
            </a:r>
            <a:r>
              <a:rPr lang="en-US" altLang="en-US" sz="2000" dirty="0"/>
              <a:t>,</a:t>
            </a:r>
            <a:r>
              <a:rPr lang="en-US" altLang="en-US" sz="2000" dirty="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2000" dirty="0"/>
              <a:t>or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image</a:t>
            </a:r>
          </a:p>
          <a:p>
            <a:r>
              <a:rPr lang="en-US" altLang="en-US" sz="2400" dirty="0"/>
              <a:t>Other common </a:t>
            </a:r>
            <a:r>
              <a:rPr lang="en-US" altLang="en-US" sz="2400" dirty="0">
                <a:solidFill>
                  <a:schemeClr val="accent2"/>
                </a:solidFill>
                <a:latin typeface="Trebuchet MS" pitchFamily="1" charset="0"/>
              </a:rPr>
              <a:t>input</a:t>
            </a:r>
            <a:r>
              <a:rPr lang="en-US" altLang="en-US" sz="2400" dirty="0"/>
              <a:t> tag arguments include:</a:t>
            </a:r>
            <a:endParaRPr lang="en-US" altLang="en-US" sz="2400" dirty="0">
              <a:solidFill>
                <a:srgbClr val="FFFF7F"/>
              </a:solidFill>
              <a:latin typeface="Trebuchet MS" pitchFamily="1" charset="0"/>
            </a:endParaRPr>
          </a:p>
          <a:p>
            <a:pPr lvl="1"/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name</a:t>
            </a:r>
            <a:r>
              <a:rPr lang="en-US" altLang="en-US" sz="2000" dirty="0"/>
              <a:t>: the name of the element</a:t>
            </a:r>
            <a:endParaRPr lang="en-US" altLang="en-US" sz="2000" dirty="0">
              <a:solidFill>
                <a:schemeClr val="accent2"/>
              </a:solidFill>
              <a:latin typeface="Trebuchet MS" pitchFamily="1" charset="0"/>
            </a:endParaRPr>
          </a:p>
          <a:p>
            <a:pPr lvl="1"/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id</a:t>
            </a:r>
            <a:r>
              <a:rPr lang="en-US" altLang="en-US" sz="2000" dirty="0"/>
              <a:t>: a unique identifier for the element</a:t>
            </a:r>
          </a:p>
          <a:p>
            <a:pPr lvl="1"/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value</a:t>
            </a:r>
            <a:r>
              <a:rPr lang="en-US" altLang="en-US" sz="2000" dirty="0"/>
              <a:t>: the “value” of the element; used in different ways for different values of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type</a:t>
            </a:r>
            <a:r>
              <a:rPr lang="en-US" altLang="en-US" sz="2000" dirty="0"/>
              <a:t> </a:t>
            </a:r>
          </a:p>
          <a:p>
            <a:pPr lvl="1"/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readonly</a:t>
            </a:r>
            <a:r>
              <a:rPr lang="en-US" altLang="en-US" sz="2000" dirty="0"/>
              <a:t>: the value cannot be changed</a:t>
            </a:r>
          </a:p>
          <a:p>
            <a:pPr lvl="1"/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disabled</a:t>
            </a:r>
            <a:r>
              <a:rPr lang="en-US" altLang="en-US" sz="2000" dirty="0"/>
              <a:t>: the user can’t do anything with this element</a:t>
            </a:r>
          </a:p>
          <a:p>
            <a:pPr lvl="1"/>
            <a:r>
              <a:rPr lang="en-US" altLang="en-US" sz="2000" dirty="0"/>
              <a:t>Other arguments are defined for the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input</a:t>
            </a:r>
            <a:r>
              <a:rPr lang="en-US" altLang="en-US" sz="2000" dirty="0"/>
              <a:t> tag but have meaning only for certain values of 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type</a:t>
            </a:r>
            <a:r>
              <a:rPr lang="en-US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1206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TYPE Attribute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5562600"/>
          </a:xfrm>
        </p:spPr>
        <p:txBody>
          <a:bodyPr/>
          <a:lstStyle/>
          <a:p>
            <a:r>
              <a:rPr lang="en-US" altLang="en-US" b="1"/>
              <a:t>TEXT type:</a:t>
            </a:r>
          </a:p>
          <a:p>
            <a:pPr lvl="1"/>
            <a:r>
              <a:rPr lang="en-US" altLang="en-US" b="1"/>
              <a:t>Specifies a single line text entry field.</a:t>
            </a:r>
          </a:p>
          <a:p>
            <a:pPr lvl="1"/>
            <a:r>
              <a:rPr lang="en-US" altLang="en-US" b="1"/>
              <a:t>Can be used with the MAXLENGTH and SIZE attributes (MAXLENGTH &gt;= SIZE)</a:t>
            </a:r>
          </a:p>
          <a:p>
            <a:pPr lvl="1">
              <a:buFontTx/>
              <a:buNone/>
            </a:pPr>
            <a:endParaRPr lang="en-US" altLang="en-US" b="1"/>
          </a:p>
          <a:p>
            <a:pPr lvl="1">
              <a:buFontTx/>
              <a:buNone/>
            </a:pPr>
            <a:r>
              <a:rPr lang="en-US" altLang="en-US" b="1"/>
              <a:t>&lt;P&gt;&lt;B&gt; First Name:&lt;/B&gt; &lt;INPUT NAME=“fname” TYPE = text MAXLENGTH=30 SIZE =30&gt;&lt;/P&gt;</a:t>
            </a:r>
          </a:p>
          <a:p>
            <a:pPr lvl="1">
              <a:buFontTx/>
              <a:buNone/>
            </a:pPr>
            <a:r>
              <a:rPr lang="en-US" altLang="en-US" b="1"/>
              <a:t>&lt;P&gt;&lt;B&gt; Last Name:&lt;/B&gt; &lt;INPUT NAME=“lname” TYPE = text MAXLENGTH=30 SIZE =30&gt;&lt;/P&gt;</a:t>
            </a:r>
          </a:p>
          <a:p>
            <a:pPr lvl="1">
              <a:buFontTx/>
              <a:buNone/>
            </a:pPr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2486848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D9C7B-6D2D-4127-B2E5-DCE0C30A3E91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Text input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25675"/>
            <a:ext cx="47244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606425" y="1447800"/>
            <a:ext cx="815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A text field: </a:t>
            </a:r>
          </a:p>
          <a:p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    &lt;input type="text" name="textfield" value="with an initial value" /&gt;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533400" y="2987675"/>
            <a:ext cx="7772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multi-line text field </a:t>
            </a:r>
          </a:p>
          <a:p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textarea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name="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textarea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" cols="24" rows="2"&gt;Hello&lt;/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textarea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&gt;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547688" y="4587875"/>
            <a:ext cx="7292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password field: </a:t>
            </a:r>
          </a:p>
          <a:p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&lt;input type="password" name="textfield3" value="secret" /&gt;</a:t>
            </a:r>
          </a:p>
        </p:txBody>
      </p:sp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410199"/>
            <a:ext cx="5943600" cy="53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609600" y="5975350"/>
            <a:ext cx="815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• Note that two of these use the </a:t>
            </a:r>
            <a:r>
              <a:rPr lang="en-US" altLang="en-US">
                <a:solidFill>
                  <a:schemeClr val="accent2"/>
                </a:solidFill>
                <a:latin typeface="Trebuchet MS" pitchFamily="1" charset="0"/>
              </a:rPr>
              <a:t>input</a:t>
            </a:r>
            <a:r>
              <a:rPr lang="en-US" altLang="en-US"/>
              <a:t> tag, but one uses </a:t>
            </a:r>
            <a:r>
              <a:rPr lang="en-US" altLang="en-US">
                <a:solidFill>
                  <a:schemeClr val="accent2"/>
                </a:solidFill>
                <a:latin typeface="Trebuchet MS" pitchFamily="1" charset="0"/>
              </a:rPr>
              <a:t>textarea</a:t>
            </a:r>
            <a:endParaRPr lang="en-US" altLang="en-US">
              <a:solidFill>
                <a:schemeClr val="accent2"/>
              </a:solidFill>
            </a:endParaRPr>
          </a:p>
        </p:txBody>
      </p:sp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10" y="3917950"/>
            <a:ext cx="52578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259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utoUpdateAnimBg="0"/>
      <p:bldP spid="8199" grpId="0" autoUpdateAnimBg="0"/>
      <p:bldP spid="8201" grpId="0" autoUpdateAnimBg="0"/>
      <p:bldP spid="820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CB33B-4C4B-489D-B3A7-D91028CB889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Buttons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26743" y="1371600"/>
            <a:ext cx="7848600" cy="1981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A submit button: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    &lt;input type="submit" name="Submit" value="Submit" /&gt;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reset button: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    &lt;input type="reset" name="Submit2" value="Reset" /&gt;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plain button: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    &lt;input type="button" name="Submit3" value="Push Me" /&gt;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endParaRPr lang="en-US" altLang="en-US" sz="2000" dirty="0">
              <a:solidFill>
                <a:schemeClr val="accent2"/>
              </a:solidFill>
              <a:latin typeface="Trebuchet MS" pitchFamily="1" charset="0"/>
            </a:endParaRP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886200" y="3657600"/>
            <a:ext cx="5127625" cy="2497138"/>
          </a:xfrm>
        </p:spPr>
        <p:txBody>
          <a:bodyPr/>
          <a:lstStyle/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submit</a:t>
            </a:r>
            <a:r>
              <a:rPr lang="en-US" altLang="en-US" sz="2400"/>
              <a:t>: send data</a:t>
            </a:r>
            <a:br>
              <a:rPr lang="en-US" altLang="en-US" sz="2400"/>
            </a:br>
            <a:endParaRPr lang="en-US" altLang="en-US" sz="800"/>
          </a:p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reset</a:t>
            </a:r>
            <a:r>
              <a:rPr lang="en-US" altLang="en-US" sz="2400"/>
              <a:t>: restore all form elements to their initial state</a:t>
            </a:r>
          </a:p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button</a:t>
            </a:r>
            <a:r>
              <a:rPr lang="en-US" altLang="en-US" sz="2400"/>
              <a:t>: take some action as specified by JavaScript</a:t>
            </a: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581400"/>
            <a:ext cx="2819400" cy="177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762000" y="5791200"/>
            <a:ext cx="723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• Note that the type is </a:t>
            </a:r>
            <a:r>
              <a:rPr lang="en-US" altLang="en-US">
                <a:solidFill>
                  <a:schemeClr val="accent2"/>
                </a:solidFill>
                <a:latin typeface="Trebuchet MS" pitchFamily="1" charset="0"/>
              </a:rPr>
              <a:t>input</a:t>
            </a:r>
            <a:r>
              <a:rPr lang="en-US" altLang="en-US"/>
              <a:t>, not “button”</a:t>
            </a:r>
          </a:p>
        </p:txBody>
      </p:sp>
    </p:spTree>
    <p:extLst>
      <p:ext uri="{BB962C8B-B14F-4D97-AF65-F5344CB8AC3E}">
        <p14:creationId xmlns:p14="http://schemas.microsoft.com/office/powerpoint/2010/main" val="17297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bldLvl="5" autoUpdateAnimBg="0"/>
      <p:bldP spid="10245" grpId="0" build="p" bldLvl="5" autoUpdateAnimBg="0"/>
      <p:bldP spid="1024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7C0601-4304-4CFA-AAD0-1188C5E3BB8F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Radio buttons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8458200" cy="137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FFFF7F"/>
              </a:buClr>
              <a:buFont typeface="Wingdings" pitchFamily="1" charset="2"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Radio buttons:&lt;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br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&lt;input type="radio" name="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radiobutton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" value="myValue1" /&gt;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male&lt;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br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&lt;input type="radio" name="</a:t>
            </a:r>
            <a:r>
              <a:rPr lang="en-US" altLang="en-US" sz="2000" dirty="0" err="1">
                <a:solidFill>
                  <a:schemeClr val="accent2"/>
                </a:solidFill>
                <a:latin typeface="Trebuchet MS" pitchFamily="1" charset="0"/>
              </a:rPr>
              <a:t>radiobutton</a:t>
            </a: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" value="myValue2”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      checked="checked" /&gt;female</a:t>
            </a:r>
            <a:endParaRPr lang="en-US" altLang="en-US" sz="2000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4025900"/>
            <a:ext cx="8574088" cy="2527300"/>
          </a:xfrm>
        </p:spPr>
        <p:txBody>
          <a:bodyPr/>
          <a:lstStyle/>
          <a:p>
            <a:r>
              <a:rPr lang="en-US" altLang="en-US" sz="2400"/>
              <a:t>If two or more radio buttons have the same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name</a:t>
            </a:r>
            <a:r>
              <a:rPr lang="en-US" altLang="en-US" sz="2400"/>
              <a:t>, the user can only select one of them at a time</a:t>
            </a:r>
          </a:p>
          <a:p>
            <a:pPr lvl="1"/>
            <a:r>
              <a:rPr lang="en-US" altLang="en-US" sz="2000"/>
              <a:t>This is how you make a radio button “group”</a:t>
            </a:r>
          </a:p>
          <a:p>
            <a:r>
              <a:rPr lang="en-US" altLang="en-US" sz="2400"/>
              <a:t>If you ask for the value of that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name</a:t>
            </a:r>
            <a:r>
              <a:rPr lang="en-US" altLang="en-US" sz="2400"/>
              <a:t>, you will get the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value</a:t>
            </a:r>
            <a:r>
              <a:rPr lang="en-US" altLang="en-US" sz="2400"/>
              <a:t> specified for the selected radio button</a:t>
            </a:r>
          </a:p>
          <a:p>
            <a:r>
              <a:rPr lang="en-US" altLang="en-US" sz="2400"/>
              <a:t>As with checkboxes, radio buttons do not contain any text</a:t>
            </a: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881313"/>
            <a:ext cx="22098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5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5" autoUpdateAnimBg="0"/>
      <p:bldP spid="17412" grpId="0" build="p" bldLvl="5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F869F0-1873-4589-81C3-24ADE7F1A120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Labels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4876800"/>
          </a:xfrm>
        </p:spPr>
        <p:txBody>
          <a:bodyPr/>
          <a:lstStyle/>
          <a:p>
            <a:r>
              <a:rPr lang="en-US" altLang="en-US" sz="2400"/>
              <a:t>In many cases, the labels for controls are not part of the control</a:t>
            </a:r>
          </a:p>
          <a:p>
            <a:pPr lvl="1"/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&lt;input type="radio" name="gender" value="m" /&gt;male</a:t>
            </a:r>
          </a:p>
          <a:p>
            <a:pPr lvl="1"/>
            <a:r>
              <a:rPr lang="en-US" altLang="en-US" sz="2000"/>
              <a:t>In this case, clicking on the word “male” has no effect</a:t>
            </a:r>
          </a:p>
          <a:p>
            <a:r>
              <a:rPr lang="en-US" altLang="en-US" sz="2400"/>
              <a:t>A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label</a:t>
            </a:r>
            <a:r>
              <a:rPr lang="en-US" altLang="en-US" sz="2400"/>
              <a:t> tag will bind the text to the control</a:t>
            </a:r>
            <a:endParaRPr lang="en-US" altLang="en-US" sz="2400">
              <a:solidFill>
                <a:schemeClr val="accent2"/>
              </a:solidFill>
              <a:latin typeface="Trebuchet MS" pitchFamily="1" charset="0"/>
            </a:endParaRPr>
          </a:p>
          <a:p>
            <a:pPr lvl="1"/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&lt;label&gt;&lt;input type="radio" name="gender" value="m" /&gt;male&lt;/label&gt;</a:t>
            </a:r>
          </a:p>
          <a:p>
            <a:pPr lvl="1"/>
            <a:r>
              <a:rPr lang="en-US" altLang="en-US" sz="2000"/>
              <a:t>Clicking on the word “male” now clicks the radio button</a:t>
            </a:r>
          </a:p>
          <a:p>
            <a:r>
              <a:rPr lang="en-US" altLang="en-US" sz="2400"/>
              <a:t>w3schools says that you should use the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for</a:t>
            </a:r>
            <a:r>
              <a:rPr lang="en-US" altLang="en-US" sz="2400"/>
              <a:t> attribute:</a:t>
            </a:r>
          </a:p>
          <a:p>
            <a:pPr lvl="1"/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&lt;label for="lname"&gt;Last Name:&lt;/label&gt;</a:t>
            </a:r>
            <a:b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&lt;input type="text" name="lastname" id="lname" /&gt;</a:t>
            </a:r>
          </a:p>
          <a:p>
            <a:pPr lvl="1"/>
            <a:r>
              <a:rPr lang="en-US" altLang="en-US" sz="2000"/>
              <a:t>In my testing (Firefox and Opera), this isn’t necessary, but it may be for some browsers</a:t>
            </a:r>
          </a:p>
          <a:p>
            <a:r>
              <a:rPr lang="en-US" altLang="en-US" sz="2400"/>
              <a:t>Labels also help page readers read the page correctly</a:t>
            </a:r>
          </a:p>
          <a:p>
            <a:r>
              <a:rPr lang="en-US" altLang="en-US" sz="2400"/>
              <a:t>Some browsers may render labels differently</a:t>
            </a:r>
          </a:p>
        </p:txBody>
      </p:sp>
    </p:spTree>
    <p:extLst>
      <p:ext uri="{BB962C8B-B14F-4D97-AF65-F5344CB8AC3E}">
        <p14:creationId xmlns:p14="http://schemas.microsoft.com/office/powerpoint/2010/main" val="2899552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7C985-0BEF-4F64-94BD-6AEF7F722FBC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Checkboxes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574088" cy="1014413"/>
          </a:xfrm>
        </p:spPr>
        <p:txBody>
          <a:bodyPr/>
          <a:lstStyle/>
          <a:p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checkbox: 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&lt;input type="checkbox" name="checkbox"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           value="checkbox" checked="checked"&gt;</a:t>
            </a:r>
            <a:endParaRPr lang="en-US" altLang="en-US" sz="2000" dirty="0">
              <a:solidFill>
                <a:schemeClr val="accent2"/>
              </a:solidFill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3303588"/>
            <a:ext cx="7848600" cy="2552700"/>
          </a:xfrm>
        </p:spPr>
        <p:txBody>
          <a:bodyPr/>
          <a:lstStyle/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type</a:t>
            </a:r>
            <a:r>
              <a:rPr lang="en-US" altLang="en-US" sz="2400">
                <a:solidFill>
                  <a:schemeClr val="accent2"/>
                </a:solidFill>
              </a:rPr>
              <a:t>: </a:t>
            </a: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"checkbox"</a:t>
            </a:r>
          </a:p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name</a:t>
            </a:r>
            <a:r>
              <a:rPr lang="en-US" altLang="en-US" sz="2400"/>
              <a:t>: used to reference this form element from JavaScript</a:t>
            </a:r>
          </a:p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value</a:t>
            </a:r>
            <a:r>
              <a:rPr lang="en-US" altLang="en-US" sz="2400"/>
              <a:t>: value to be returned when element is checked</a:t>
            </a:r>
          </a:p>
          <a:p>
            <a:r>
              <a:rPr lang="en-US" altLang="en-US" sz="2400"/>
              <a:t>Note that there is </a:t>
            </a:r>
            <a:r>
              <a:rPr lang="en-US" altLang="en-US" sz="2400" i="1"/>
              <a:t>no text</a:t>
            </a:r>
            <a:r>
              <a:rPr lang="en-US" altLang="en-US" sz="2400"/>
              <a:t> associated with the checkbox</a:t>
            </a:r>
          </a:p>
          <a:p>
            <a:pPr lvl="1"/>
            <a:r>
              <a:rPr lang="en-US" altLang="en-US" sz="2000"/>
              <a:t>Unless you use a </a:t>
            </a: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label</a:t>
            </a:r>
            <a:r>
              <a:rPr lang="en-US" altLang="en-US" sz="2000"/>
              <a:t> tag, only clicking on the box itself has any effect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67000"/>
            <a:ext cx="22860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63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5" autoUpdateAnimBg="0"/>
      <p:bldP spid="13317" grpId="0" build="p" bldLvl="5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2541D-2D63-4DB9-9C47-C56C27A21067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Drop-down menu or list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7175"/>
            <a:ext cx="8574088" cy="17954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A menu or list: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&lt;select name="select"&gt;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&lt;option value="red"&gt;red&lt;/option&gt;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&lt;option value="green"&gt;green&lt;/option&gt;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    &lt;option value="BLUE"&gt;blue&lt;/option&gt;</a:t>
            </a:r>
            <a:b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rebuchet MS" pitchFamily="1" charset="0"/>
              </a:rPr>
              <a:t>&lt;/select&gt;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4268788"/>
            <a:ext cx="7772400" cy="21320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Additional arguments: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size</a:t>
            </a:r>
            <a:r>
              <a:rPr lang="en-US" altLang="en-US" sz="1800"/>
              <a:t>: the number of items visible in the list (default is</a:t>
            </a:r>
            <a:r>
              <a:rPr lang="en-US" altLang="en-US" sz="1800">
                <a:solidFill>
                  <a:srgbClr val="FFFF7F"/>
                </a:solidFill>
                <a:latin typeface="Trebuchet MS" pitchFamily="1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"1"</a:t>
            </a:r>
            <a:r>
              <a:rPr lang="en-US" altLang="en-US" sz="180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chemeClr val="accent2"/>
                </a:solidFill>
                <a:latin typeface="Trebuchet MS" pitchFamily="1" charset="0"/>
              </a:rPr>
              <a:t>multiple</a:t>
            </a:r>
            <a:endParaRPr lang="en-US" altLang="en-US" sz="1800"/>
          </a:p>
          <a:p>
            <a:pPr lvl="2">
              <a:lnSpc>
                <a:spcPct val="90000"/>
              </a:lnSpc>
            </a:pPr>
            <a:r>
              <a:rPr lang="en-US" altLang="en-US" sz="1600"/>
              <a:t>if set to </a:t>
            </a:r>
            <a:r>
              <a:rPr lang="en-US" altLang="en-US" sz="1600">
                <a:solidFill>
                  <a:schemeClr val="accent2"/>
                </a:solidFill>
                <a:latin typeface="Trebuchet MS" pitchFamily="1" charset="0"/>
              </a:rPr>
              <a:t>"true"</a:t>
            </a:r>
            <a:r>
              <a:rPr lang="en-US" altLang="en-US" sz="1600"/>
              <a:t> (or just about anything else), any number of items may be selected</a:t>
            </a:r>
          </a:p>
          <a:p>
            <a:pPr lvl="2">
              <a:lnSpc>
                <a:spcPct val="90000"/>
              </a:lnSpc>
            </a:pPr>
            <a:r>
              <a:rPr lang="en-US" altLang="en-US" sz="1600"/>
              <a:t>if omitted, only one item may be selected</a:t>
            </a:r>
          </a:p>
          <a:p>
            <a:pPr lvl="2">
              <a:lnSpc>
                <a:spcPct val="90000"/>
              </a:lnSpc>
            </a:pPr>
            <a:r>
              <a:rPr lang="en-US" altLang="en-US" sz="1600"/>
              <a:t>if set to </a:t>
            </a:r>
            <a:r>
              <a:rPr lang="en-US" altLang="en-US" sz="1600">
                <a:solidFill>
                  <a:schemeClr val="accent2"/>
                </a:solidFill>
                <a:latin typeface="Trebuchet MS" pitchFamily="1" charset="0"/>
              </a:rPr>
              <a:t>"false"</a:t>
            </a:r>
            <a:r>
              <a:rPr lang="en-US" altLang="en-US" sz="1600"/>
              <a:t>, behavior depends on the particular browser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352800"/>
            <a:ext cx="3875088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296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5" autoUpdateAnimBg="0"/>
      <p:bldP spid="18436" grpId="0" build="p" bldLvl="5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826EA3-8E3C-4F5B-8687-56DE7FAB4C5D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Hidden fields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574088" cy="936625"/>
          </a:xfrm>
        </p:spPr>
        <p:txBody>
          <a:bodyPr/>
          <a:lstStyle/>
          <a:p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&lt;input type="hidden" name="hiddenField" value="nyah"&gt;</a:t>
            </a:r>
            <a:b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rebuchet MS" pitchFamily="1" charset="0"/>
              </a:rPr>
              <a:t>    &amp;lt;-- right there, don't you see it?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3244850"/>
            <a:ext cx="8574088" cy="2887663"/>
          </a:xfrm>
        </p:spPr>
        <p:txBody>
          <a:bodyPr/>
          <a:lstStyle/>
          <a:p>
            <a:r>
              <a:rPr lang="en-US" altLang="en-US" sz="2400"/>
              <a:t>What good is this?</a:t>
            </a:r>
          </a:p>
          <a:p>
            <a:pPr lvl="1"/>
            <a:r>
              <a:rPr lang="en-US" altLang="en-US" sz="2000"/>
              <a:t>All</a:t>
            </a: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 input</a:t>
            </a:r>
            <a:r>
              <a:rPr lang="en-US" altLang="en-US" sz="2000"/>
              <a:t> fields are sent back to the server, including hidden fields</a:t>
            </a:r>
          </a:p>
          <a:p>
            <a:pPr lvl="1"/>
            <a:r>
              <a:rPr lang="en-US" altLang="en-US" sz="2000"/>
              <a:t>This is a way to include information that the user doesn’t need to see (or that you don’t want her to see)</a:t>
            </a:r>
          </a:p>
          <a:p>
            <a:pPr lvl="1"/>
            <a:r>
              <a:rPr lang="en-US" altLang="en-US" sz="2000"/>
              <a:t>The </a:t>
            </a:r>
            <a:r>
              <a:rPr lang="en-US" altLang="en-US" sz="2000">
                <a:solidFill>
                  <a:schemeClr val="accent2"/>
                </a:solidFill>
                <a:latin typeface="Trebuchet MS" pitchFamily="1" charset="0"/>
              </a:rPr>
              <a:t>value</a:t>
            </a:r>
            <a:r>
              <a:rPr lang="en-US" altLang="en-US" sz="2000"/>
              <a:t> of a hidden field can be set programmatically (by JavaScript) before the form is submitted</a:t>
            </a:r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22538"/>
            <a:ext cx="7467600" cy="60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539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5" autoUpdateAnimBg="0"/>
      <p:bldP spid="19460" grpId="0" build="p" bldLvl="5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19201-BC31-4C8F-9DC3-72C29D36C164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Forms - Example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59656"/>
            <a:ext cx="8255000" cy="51816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FFFF7F"/>
              </a:buClr>
              <a:buFontTx/>
              <a:buChar char=" "/>
            </a:pPr>
            <a:r>
              <a:rPr lang="en-US" altLang="en-US" sz="1800" dirty="0">
                <a:latin typeface="Trebuchet MS" pitchFamily="1" charset="0"/>
              </a:rPr>
              <a:t>&lt;html&gt;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&lt;head&gt;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&lt;title&gt;Get Identity&lt;/title&gt;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&lt;/head&gt;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&lt;body&gt;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&lt;p&gt;&lt;b&gt;Who are you?&lt;/b&gt;&lt;/p&gt;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&lt;form method="post" action=""&gt;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&lt;p&gt;Name: 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  &lt;input type="text" name="</a:t>
            </a:r>
            <a:r>
              <a:rPr lang="en-US" altLang="en-US" sz="1800" dirty="0" err="1">
                <a:latin typeface="Trebuchet MS" pitchFamily="1" charset="0"/>
              </a:rPr>
              <a:t>textfield</a:t>
            </a:r>
            <a:r>
              <a:rPr lang="en-US" altLang="en-US" sz="1800" dirty="0">
                <a:latin typeface="Trebuchet MS" pitchFamily="1" charset="0"/>
              </a:rPr>
              <a:t>"&gt;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&lt;/p&gt;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&lt;p&gt;Gender: 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  &lt;label&gt;&lt;input type="radio" name="gender" value="m" /&gt;Male&lt;label&gt;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  &lt;label&gt;&lt;input type="radio" name="gender" value="f" /&gt;Female&lt;/label&gt;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&lt;/p&gt;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  &lt;/form&gt;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&lt;/body&gt;</a:t>
            </a:r>
            <a:br>
              <a:rPr lang="en-US" altLang="en-US" sz="1800" dirty="0">
                <a:latin typeface="Trebuchet MS" pitchFamily="1" charset="0"/>
              </a:rPr>
            </a:br>
            <a:r>
              <a:rPr lang="en-US" altLang="en-US" sz="1800" dirty="0">
                <a:latin typeface="Trebuchet MS" pitchFamily="1" charset="0"/>
              </a:rPr>
              <a:t>&lt;/html&gt;</a:t>
            </a: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779713"/>
            <a:ext cx="3454400" cy="174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389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Forms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5715000"/>
          </a:xfrm>
        </p:spPr>
        <p:txBody>
          <a:bodyPr>
            <a:normAutofit lnSpcReduction="10000"/>
          </a:bodyPr>
          <a:lstStyle/>
          <a:p>
            <a:r>
              <a:rPr lang="en-US" altLang="en-US" b="1"/>
              <a:t>Form Input: INPUT</a:t>
            </a:r>
          </a:p>
          <a:p>
            <a:pPr lvl="1"/>
            <a:r>
              <a:rPr lang="en-US" altLang="en-US" sz="2400" b="1"/>
              <a:t>Only used within a FORM element and is denoted by &lt;INPUT&gt;.  </a:t>
            </a:r>
          </a:p>
          <a:p>
            <a:pPr lvl="1"/>
            <a:r>
              <a:rPr lang="en-US" altLang="en-US" sz="2400" b="1"/>
              <a:t>Attributes:</a:t>
            </a:r>
          </a:p>
          <a:p>
            <a:pPr lvl="2"/>
            <a:r>
              <a:rPr lang="en-US" altLang="en-US" sz="2000" b="1" i="1"/>
              <a:t>NAME</a:t>
            </a:r>
            <a:r>
              <a:rPr lang="en-US" altLang="en-US" sz="2000" b="1"/>
              <a:t>: The name of the particular element.</a:t>
            </a:r>
          </a:p>
          <a:p>
            <a:pPr lvl="2"/>
            <a:r>
              <a:rPr lang="en-US" altLang="en-US" sz="2000" b="1" i="1"/>
              <a:t>MAXLENGTH</a:t>
            </a:r>
            <a:r>
              <a:rPr lang="en-US" altLang="en-US" sz="2000" b="1"/>
              <a:t>:  The maximum number of characters that can be entered by users in a text field.</a:t>
            </a:r>
          </a:p>
          <a:p>
            <a:pPr lvl="2"/>
            <a:r>
              <a:rPr lang="en-US" altLang="en-US" sz="2000" b="1" i="1"/>
              <a:t>SIZE</a:t>
            </a:r>
            <a:r>
              <a:rPr lang="en-US" altLang="en-US" sz="2000" b="1"/>
              <a:t>:  Specifies the size of the field and depends on its type.</a:t>
            </a:r>
          </a:p>
          <a:p>
            <a:pPr lvl="2"/>
            <a:r>
              <a:rPr lang="en-US" altLang="en-US" sz="2000" b="1" i="1"/>
              <a:t>SRC</a:t>
            </a:r>
            <a:r>
              <a:rPr lang="en-US" altLang="en-US" sz="2000" b="1"/>
              <a:t>:  Denote URL for an image.</a:t>
            </a:r>
          </a:p>
          <a:p>
            <a:pPr lvl="2"/>
            <a:r>
              <a:rPr lang="en-US" altLang="en-US" sz="2000" b="1" i="1"/>
              <a:t>VALUE</a:t>
            </a:r>
            <a:r>
              <a:rPr lang="en-US" altLang="en-US" sz="2000" b="1"/>
              <a:t>:  Contain the initial value displayed to users.</a:t>
            </a:r>
          </a:p>
          <a:p>
            <a:pPr lvl="2"/>
            <a:r>
              <a:rPr lang="en-US" altLang="en-US" sz="2000" b="1" i="1"/>
              <a:t>TYPE</a:t>
            </a:r>
            <a:r>
              <a:rPr lang="en-US" altLang="en-US" sz="2000" b="1"/>
              <a:t>: Defines the type of data used in the field.</a:t>
            </a:r>
          </a:p>
          <a:p>
            <a:pPr lvl="2"/>
            <a:r>
              <a:rPr lang="en-US" altLang="en-US" sz="2000" b="1" i="1"/>
              <a:t>CHECKED</a:t>
            </a:r>
            <a:r>
              <a:rPr lang="en-US" altLang="en-US" sz="2000" b="1"/>
              <a:t>:  Indicates that a checkbox or radio button is selected.</a:t>
            </a:r>
          </a:p>
          <a:p>
            <a:pPr lvl="2"/>
            <a:r>
              <a:rPr lang="en-US" altLang="en-US" sz="2000" b="1" i="1"/>
              <a:t>DISABLED</a:t>
            </a:r>
            <a:r>
              <a:rPr lang="en-US" altLang="en-US" sz="2000" b="1"/>
              <a:t>: Prevents the field from receiving focus.</a:t>
            </a:r>
          </a:p>
          <a:p>
            <a:pPr lvl="2"/>
            <a:r>
              <a:rPr lang="en-US" altLang="en-US" sz="2000" b="1" i="1"/>
              <a:t>ALIGN</a:t>
            </a:r>
            <a:r>
              <a:rPr lang="en-US" altLang="en-US" sz="2000" b="1"/>
              <a:t>:  Alignment if image is used.</a:t>
            </a:r>
          </a:p>
          <a:p>
            <a:pPr lvl="2"/>
            <a:r>
              <a:rPr lang="en-US" altLang="en-US" sz="2000" b="1" i="1"/>
              <a:t>READONLY</a:t>
            </a:r>
            <a:r>
              <a:rPr lang="en-US" altLang="en-US" sz="2000" b="1"/>
              <a:t>: Prevents modification of the contents of the field.</a:t>
            </a:r>
          </a:p>
        </p:txBody>
      </p:sp>
    </p:spTree>
    <p:extLst>
      <p:ext uri="{BB962C8B-B14F-4D97-AF65-F5344CB8AC3E}">
        <p14:creationId xmlns:p14="http://schemas.microsoft.com/office/powerpoint/2010/main" val="7058688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762000"/>
          </a:xfrm>
        </p:spPr>
        <p:txBody>
          <a:bodyPr/>
          <a:lstStyle/>
          <a:p>
            <a:r>
              <a:rPr lang="en-US" altLang="en-US" b="1" u="sng"/>
              <a:t>TYPE Attribute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181600"/>
          </a:xfrm>
        </p:spPr>
        <p:txBody>
          <a:bodyPr/>
          <a:lstStyle/>
          <a:p>
            <a:r>
              <a:rPr lang="en-US" altLang="en-US" b="1"/>
              <a:t>SUBMIT and RESET Types:</a:t>
            </a:r>
          </a:p>
          <a:p>
            <a:pPr lvl="1"/>
            <a:r>
              <a:rPr lang="en-US" altLang="en-US" b="1"/>
              <a:t>SUBMIT: Used to submit the form’s content, as specified by the ACTION attribute.</a:t>
            </a:r>
          </a:p>
          <a:p>
            <a:pPr lvl="1"/>
            <a:r>
              <a:rPr lang="en-US" altLang="en-US" b="1"/>
              <a:t>RESET:  Set all fields in the form to their initial values.</a:t>
            </a:r>
          </a:p>
          <a:p>
            <a:pPr lvl="1">
              <a:buFontTx/>
              <a:buNone/>
            </a:pPr>
            <a:r>
              <a:rPr lang="en-US" altLang="en-US" sz="2400" b="1"/>
              <a:t>&lt;P&gt;INPUT TYPE=SUBMIT&gt;</a:t>
            </a:r>
          </a:p>
          <a:p>
            <a:pPr lvl="1">
              <a:buFontTx/>
              <a:buNone/>
            </a:pPr>
            <a:r>
              <a:rPr lang="en-US" altLang="en-US" sz="2400" b="1"/>
              <a:t>&lt;INPUT TYPE=RESET&gt;</a:t>
            </a:r>
          </a:p>
          <a:p>
            <a:pPr lvl="1">
              <a:buFontTx/>
              <a:buNone/>
            </a:pPr>
            <a:endParaRPr lang="en-US" altLang="en-US" sz="2400" b="1"/>
          </a:p>
          <a:p>
            <a:pPr lvl="1">
              <a:buFontTx/>
              <a:buNone/>
            </a:pPr>
            <a:r>
              <a:rPr lang="en-US" altLang="en-US" sz="2400" b="1"/>
              <a:t>&lt;P&gt;&lt;INPUT TYPE=SUBMIT VALUE = “Place Your Order”&gt;</a:t>
            </a:r>
          </a:p>
          <a:p>
            <a:pPr lvl="1">
              <a:buFontTx/>
              <a:buNone/>
            </a:pPr>
            <a:r>
              <a:rPr lang="en-US" altLang="en-US" sz="2400" b="1"/>
              <a:t>&lt;INPUT TYPE=RESET VALUE = “Start over”&gt;</a:t>
            </a:r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5882453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b="1" u="sng"/>
              <a:t>TYPE Attribute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10600" cy="5334000"/>
          </a:xfrm>
        </p:spPr>
        <p:txBody>
          <a:bodyPr/>
          <a:lstStyle/>
          <a:p>
            <a:r>
              <a:rPr lang="en-US" altLang="en-US" b="1"/>
              <a:t>BUTTON Input Type:</a:t>
            </a:r>
          </a:p>
          <a:p>
            <a:pPr lvl="1"/>
            <a:r>
              <a:rPr lang="en-US" altLang="en-US" b="1"/>
              <a:t>Creates a button whose use can be defined through scripting and onClick event.</a:t>
            </a:r>
          </a:p>
          <a:p>
            <a:pPr lvl="1"/>
            <a:r>
              <a:rPr lang="en-US" altLang="en-US" b="1"/>
              <a:t>Use to create a back button.</a:t>
            </a:r>
          </a:p>
          <a:p>
            <a:pPr lvl="1"/>
            <a:r>
              <a:rPr lang="en-US" altLang="en-US" b="1"/>
              <a:t>Only useful to browsers that support scripting.</a:t>
            </a:r>
          </a:p>
          <a:p>
            <a:endParaRPr lang="en-US" altLang="en-US" b="1"/>
          </a:p>
          <a:p>
            <a:pPr lvl="1">
              <a:buFontTx/>
              <a:buNone/>
            </a:pPr>
            <a:r>
              <a:rPr lang="en-US" altLang="en-US" b="1"/>
              <a:t>&lt;FORM&gt;&lt;P&gt;&lt;INPUT TYPE=“button” VALUE=“Back to Last Document” onClick=“history.back( )”&gt;&lt;/P&gt;&lt;/FORM&gt;</a:t>
            </a:r>
          </a:p>
        </p:txBody>
      </p:sp>
    </p:spTree>
    <p:extLst>
      <p:ext uri="{BB962C8B-B14F-4D97-AF65-F5344CB8AC3E}">
        <p14:creationId xmlns:p14="http://schemas.microsoft.com/office/powerpoint/2010/main" val="4234130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r>
              <a:rPr lang="en-US" altLang="en-US" b="1" u="sng"/>
              <a:t>TEXTAREA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029200"/>
          </a:xfrm>
        </p:spPr>
        <p:txBody>
          <a:bodyPr/>
          <a:lstStyle/>
          <a:p>
            <a:r>
              <a:rPr lang="en-US" altLang="en-US" b="1"/>
              <a:t>Let users enter more than one line of text.</a:t>
            </a:r>
          </a:p>
          <a:p>
            <a:r>
              <a:rPr lang="en-US" altLang="en-US" b="1"/>
              <a:t>Uses attributes ROWS and COLS to size.</a:t>
            </a:r>
          </a:p>
          <a:p>
            <a:r>
              <a:rPr lang="en-US" altLang="en-US" b="1"/>
              <a:t>WRAP Attribute:</a:t>
            </a:r>
          </a:p>
          <a:p>
            <a:pPr lvl="1"/>
            <a:r>
              <a:rPr lang="en-US" altLang="en-US" b="1"/>
              <a:t>OFF:  No wrapping</a:t>
            </a:r>
          </a:p>
          <a:p>
            <a:pPr lvl="1"/>
            <a:r>
              <a:rPr lang="en-US" altLang="en-US" b="1"/>
              <a:t>VIRTUAL: Display wraps but long lines are sent as one line.</a:t>
            </a:r>
          </a:p>
          <a:p>
            <a:pPr lvl="1"/>
            <a:r>
              <a:rPr lang="en-US" altLang="en-US" b="1"/>
              <a:t>PHYSICAL:  Word wraps and text is sent with wrap points.</a:t>
            </a:r>
          </a:p>
        </p:txBody>
      </p:sp>
    </p:spTree>
    <p:extLst>
      <p:ext uri="{BB962C8B-B14F-4D97-AF65-F5344CB8AC3E}">
        <p14:creationId xmlns:p14="http://schemas.microsoft.com/office/powerpoint/2010/main" val="1132413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More on Forms  - More input elements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Date -- </a:t>
            </a:r>
            <a:r>
              <a:rPr lang="en-US" dirty="0"/>
              <a:t>Setting the input type to date indicates that you wish the user to enter a date value.</a:t>
            </a:r>
          </a:p>
          <a:p>
            <a:r>
              <a:rPr lang="en-US" dirty="0"/>
              <a:t>Tag: &lt;input type="date“  id = "date" /&gt;</a:t>
            </a:r>
          </a:p>
          <a:p>
            <a:r>
              <a:rPr lang="en-US" dirty="0"/>
              <a:t>Usage:  &lt;p&gt;  Date: &lt;label&gt; </a:t>
            </a:r>
          </a:p>
          <a:p>
            <a:pPr marL="0" indent="0">
              <a:buNone/>
            </a:pPr>
            <a:r>
              <a:rPr lang="en-US" dirty="0"/>
              <a:t>           	 &lt;input type="date" id="date" /&gt; </a:t>
            </a:r>
          </a:p>
          <a:p>
            <a:pPr marL="0" indent="0">
              <a:buNone/>
            </a:pPr>
            <a:r>
              <a:rPr lang="en-US" dirty="0"/>
              <a:t>		&lt;/label&gt;&lt;/p&gt;</a:t>
            </a:r>
          </a:p>
          <a:p>
            <a:r>
              <a:rPr lang="en-US" i="1" dirty="0"/>
              <a:t>Time -- </a:t>
            </a:r>
            <a:r>
              <a:rPr lang="en-US" dirty="0"/>
              <a:t>input type is to allow the user to enter a time. Time is stored in </a:t>
            </a:r>
            <a:r>
              <a:rPr lang="en-US" dirty="0" err="1"/>
              <a:t>hh:mm</a:t>
            </a:r>
            <a:r>
              <a:rPr lang="en-US" dirty="0"/>
              <a:t> format</a:t>
            </a:r>
          </a:p>
          <a:p>
            <a:r>
              <a:rPr lang="en-US" dirty="0"/>
              <a:t>Tag: &lt;input type = "time” id = "time" /&gt;</a:t>
            </a:r>
          </a:p>
          <a:p>
            <a:r>
              <a:rPr lang="en-US" dirty="0"/>
              <a:t>Usage:&lt;p&gt;  Time: &lt;label&gt; </a:t>
            </a:r>
          </a:p>
          <a:p>
            <a:pPr marL="0" indent="0">
              <a:buNone/>
            </a:pPr>
            <a:r>
              <a:rPr lang="en-US" dirty="0"/>
              <a:t>	&lt;input type="time" id="time" /&gt; </a:t>
            </a:r>
          </a:p>
          <a:p>
            <a:pPr marL="0" indent="0">
              <a:buNone/>
            </a:pPr>
            <a:r>
              <a:rPr lang="en-US" dirty="0"/>
              <a:t>	&lt;/label&gt;&lt;/p&gt;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57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More form tags 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 err="1"/>
              <a:t>Datetime</a:t>
            </a:r>
            <a:r>
              <a:rPr lang="en-US" i="1" dirty="0"/>
              <a:t> -- </a:t>
            </a:r>
            <a:r>
              <a:rPr lang="en-US" dirty="0"/>
              <a:t>combines date and time into a single element</a:t>
            </a:r>
          </a:p>
          <a:p>
            <a:r>
              <a:rPr lang="en-US" i="1" dirty="0"/>
              <a:t>Number -- </a:t>
            </a:r>
            <a:r>
              <a:rPr lang="en-US" dirty="0"/>
              <a:t>allows the input of numerical data. This often consists of a text field followed by some kind of selector (say up and down arrows), or it might change the virtual keypad of a portable device to handle only numeric input.</a:t>
            </a:r>
          </a:p>
          <a:p>
            <a:r>
              <a:rPr lang="en-US" dirty="0"/>
              <a:t>Tag: &lt;input type = "number“ id = "number“ max = "10“ min = "0" /&gt;</a:t>
            </a:r>
          </a:p>
          <a:p>
            <a:r>
              <a:rPr lang="en-US" dirty="0"/>
              <a:t>Usage: &lt;p&gt; Number: &lt;label&gt; &lt;input type = "number“ id = "number“ max = "10“ min = "0" /&gt;&lt;/label&gt; &lt;/p&gt;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052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Some More 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i="1" dirty="0"/>
              <a:t>Email -- g</a:t>
            </a:r>
            <a:r>
              <a:rPr lang="en-US" dirty="0"/>
              <a:t>enerally looks like a plain text field, but it validates on an e-mail address</a:t>
            </a:r>
          </a:p>
          <a:p>
            <a:r>
              <a:rPr lang="en-US" dirty="0"/>
              <a:t>&lt;input type="email”  id = "</a:t>
            </a:r>
            <a:r>
              <a:rPr lang="en-US" dirty="0" err="1"/>
              <a:t>txtEmail</a:t>
            </a:r>
            <a:r>
              <a:rPr lang="en-US" dirty="0"/>
              <a:t>" /&gt;</a:t>
            </a:r>
          </a:p>
          <a:p>
            <a:r>
              <a:rPr lang="en-US" dirty="0"/>
              <a:t>Usage:&lt;p&gt; Email: &lt;label&gt; </a:t>
            </a:r>
          </a:p>
          <a:p>
            <a:pPr marL="0" indent="0">
              <a:buNone/>
            </a:pPr>
            <a:r>
              <a:rPr lang="en-US" dirty="0"/>
              <a:t>&lt;input type = "email“ id = "</a:t>
            </a:r>
            <a:r>
              <a:rPr lang="en-US" dirty="0" err="1"/>
              <a:t>txtEmail</a:t>
            </a:r>
            <a:r>
              <a:rPr lang="en-US" dirty="0"/>
              <a:t>“ /&gt;&lt;/label&gt; &lt;/p&gt;   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527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&lt;audio&gt;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47545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&lt;audio controls&gt;</a:t>
            </a:r>
            <a:br>
              <a:rPr lang="en-US" dirty="0"/>
            </a:br>
            <a:r>
              <a:rPr lang="en-US" dirty="0"/>
              <a:t>  &lt;source </a:t>
            </a:r>
            <a:r>
              <a:rPr lang="en-US" dirty="0" err="1"/>
              <a:t>src</a:t>
            </a:r>
            <a:r>
              <a:rPr lang="en-US" dirty="0"/>
              <a:t>="horse.ogg" type="audio/</a:t>
            </a:r>
            <a:r>
              <a:rPr lang="en-US" dirty="0" err="1"/>
              <a:t>ogg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  &lt;source </a:t>
            </a:r>
            <a:r>
              <a:rPr lang="en-US" dirty="0" err="1"/>
              <a:t>src</a:t>
            </a:r>
            <a:r>
              <a:rPr lang="en-US" dirty="0"/>
              <a:t>="horse.mp3" type="audio/mpeg"&gt;</a:t>
            </a:r>
            <a:br>
              <a:rPr lang="en-US" dirty="0"/>
            </a:br>
            <a:r>
              <a:rPr lang="en-US" dirty="0"/>
              <a:t>Your browser does not support the audio element.</a:t>
            </a:r>
            <a:br>
              <a:rPr lang="en-US" dirty="0"/>
            </a:br>
            <a:r>
              <a:rPr lang="en-US" dirty="0"/>
              <a:t>&lt;/audio&gt; </a:t>
            </a:r>
          </a:p>
          <a:p>
            <a:r>
              <a:rPr lang="en-US" dirty="0"/>
              <a:t>The controls attribute adds audio controls, like play, pause, and volume. </a:t>
            </a:r>
          </a:p>
          <a:p>
            <a:r>
              <a:rPr lang="en-US" dirty="0"/>
              <a:t>The &lt;source&gt; element allows you to specify alternative audio files which the browser may choose from. The browser will use the first recognized format.</a:t>
            </a:r>
          </a:p>
          <a:p>
            <a:r>
              <a:rPr lang="en-US" b="1" dirty="0">
                <a:solidFill>
                  <a:srgbClr val="FF0000"/>
                </a:solidFill>
              </a:rPr>
              <a:t>The text between the &lt;audio&gt; and &lt;/audio&gt; tags will only be displayed in browsers that do not support the &lt;audio&gt; element.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29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&lt;video&gt; tag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&lt;video&gt; element specifies a standard way to embed a video in a web page</a:t>
            </a:r>
          </a:p>
          <a:p>
            <a:r>
              <a:rPr lang="en-US" dirty="0"/>
              <a:t>&lt;video width="320" height="240" controls&gt;</a:t>
            </a:r>
            <a:br>
              <a:rPr lang="en-US" dirty="0"/>
            </a:br>
            <a:r>
              <a:rPr lang="en-US" dirty="0"/>
              <a:t>  &lt;source </a:t>
            </a:r>
            <a:r>
              <a:rPr lang="en-US" dirty="0" err="1"/>
              <a:t>src</a:t>
            </a:r>
            <a:r>
              <a:rPr lang="en-US" dirty="0"/>
              <a:t>="movie.mp4" type="video/mp4"&gt;</a:t>
            </a:r>
            <a:br>
              <a:rPr lang="en-US" dirty="0"/>
            </a:br>
            <a:r>
              <a:rPr lang="en-US" dirty="0"/>
              <a:t>  &lt;source </a:t>
            </a:r>
            <a:r>
              <a:rPr lang="en-US" dirty="0" err="1"/>
              <a:t>src</a:t>
            </a:r>
            <a:r>
              <a:rPr lang="en-US" dirty="0"/>
              <a:t>="movie.ogg" type="video/</a:t>
            </a:r>
            <a:r>
              <a:rPr lang="en-US" dirty="0" err="1"/>
              <a:t>ogg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Your browser does not support the video tag.</a:t>
            </a:r>
            <a:br>
              <a:rPr lang="en-US" dirty="0"/>
            </a:br>
            <a:r>
              <a:rPr lang="en-US" dirty="0"/>
              <a:t>&lt;/video&gt; </a:t>
            </a:r>
          </a:p>
          <a:p>
            <a:r>
              <a:rPr lang="en-US" dirty="0"/>
              <a:t>The controls attribute adds video controls, like play, pause, and volume.</a:t>
            </a:r>
          </a:p>
          <a:p>
            <a:r>
              <a:rPr lang="en-US" dirty="0"/>
              <a:t>Always include width and height attributes. If height and width are not set, the page might flicker while the video loads.</a:t>
            </a:r>
          </a:p>
          <a:p>
            <a:r>
              <a:rPr lang="en-US" dirty="0"/>
              <a:t>The &lt;source&gt; element allows you to specify alternative video files which the browser may choose from. The browser will use the first recognized format.</a:t>
            </a:r>
          </a:p>
          <a:p>
            <a:r>
              <a:rPr lang="en-US" b="1" dirty="0">
                <a:solidFill>
                  <a:srgbClr val="FF0000"/>
                </a:solidFill>
              </a:rPr>
              <a:t>The text between the &lt;video&gt; and &lt;/video&gt; tags will only be displayed in browsers that do not support the &lt;video&gt; element.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590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Types … a glance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371600"/>
            <a:ext cx="4040188" cy="4754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&lt;input type="button"&gt;</a:t>
            </a:r>
          </a:p>
          <a:p>
            <a:r>
              <a:rPr lang="en-US" dirty="0"/>
              <a:t>&lt;input type="checkbox"&gt;</a:t>
            </a:r>
          </a:p>
          <a:p>
            <a:r>
              <a:rPr lang="en-US" dirty="0"/>
              <a:t>&lt;input type="color"&gt;</a:t>
            </a:r>
          </a:p>
          <a:p>
            <a:r>
              <a:rPr lang="en-US" dirty="0"/>
              <a:t>&lt;input type="date"&gt;</a:t>
            </a:r>
          </a:p>
          <a:p>
            <a:r>
              <a:rPr lang="en-US" dirty="0"/>
              <a:t>&lt;input type="</a:t>
            </a:r>
            <a:r>
              <a:rPr lang="en-US" dirty="0" err="1"/>
              <a:t>datetime</a:t>
            </a:r>
            <a:r>
              <a:rPr lang="en-US" dirty="0"/>
              <a:t>-local"&gt;</a:t>
            </a:r>
          </a:p>
          <a:p>
            <a:r>
              <a:rPr lang="en-US" dirty="0"/>
              <a:t>&lt;input type="email"&gt;</a:t>
            </a:r>
          </a:p>
          <a:p>
            <a:r>
              <a:rPr lang="en-US" dirty="0"/>
              <a:t>&lt;input type="file"&gt;</a:t>
            </a:r>
          </a:p>
          <a:p>
            <a:r>
              <a:rPr lang="en-US" dirty="0"/>
              <a:t>&lt;input type="hidden"&gt;</a:t>
            </a:r>
          </a:p>
          <a:p>
            <a:r>
              <a:rPr lang="en-US" dirty="0"/>
              <a:t>&lt;input type="image"&gt;</a:t>
            </a:r>
          </a:p>
          <a:p>
            <a:r>
              <a:rPr lang="en-US" dirty="0"/>
              <a:t>&lt;input type="month"&gt;</a:t>
            </a:r>
          </a:p>
          <a:p>
            <a:r>
              <a:rPr lang="en-US" dirty="0"/>
              <a:t>&lt;input type="number"&gt;</a:t>
            </a:r>
          </a:p>
          <a:p>
            <a:r>
              <a:rPr lang="en-US" dirty="0"/>
              <a:t>&lt;input type="password"&gt;</a:t>
            </a:r>
          </a:p>
          <a:p>
            <a:r>
              <a:rPr lang="en-US" dirty="0"/>
              <a:t>&lt;input type="radio"&gt;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041775" cy="4678363"/>
          </a:xfrm>
        </p:spPr>
        <p:txBody>
          <a:bodyPr>
            <a:normAutofit/>
          </a:bodyPr>
          <a:lstStyle/>
          <a:p>
            <a:r>
              <a:rPr lang="en-US" dirty="0"/>
              <a:t>&lt;input type="range"&gt;</a:t>
            </a:r>
          </a:p>
          <a:p>
            <a:r>
              <a:rPr lang="en-US" dirty="0"/>
              <a:t>&lt;input type="reset"&gt;</a:t>
            </a:r>
          </a:p>
          <a:p>
            <a:r>
              <a:rPr lang="en-US" dirty="0"/>
              <a:t>&lt;input type="search"&gt;</a:t>
            </a:r>
          </a:p>
          <a:p>
            <a:r>
              <a:rPr lang="en-US" dirty="0"/>
              <a:t>&lt;input type="submit"&gt;</a:t>
            </a:r>
          </a:p>
          <a:p>
            <a:r>
              <a:rPr lang="en-US" dirty="0"/>
              <a:t>&lt;input type="</a:t>
            </a:r>
            <a:r>
              <a:rPr lang="en-US" dirty="0" err="1"/>
              <a:t>tel</a:t>
            </a:r>
            <a:r>
              <a:rPr lang="en-US" dirty="0"/>
              <a:t>"&gt;</a:t>
            </a:r>
          </a:p>
          <a:p>
            <a:r>
              <a:rPr lang="en-US" dirty="0"/>
              <a:t>&lt;input type="text"&gt;</a:t>
            </a:r>
          </a:p>
          <a:p>
            <a:r>
              <a:rPr lang="en-US" dirty="0"/>
              <a:t>&lt;input type="time"&gt;</a:t>
            </a:r>
          </a:p>
          <a:p>
            <a:r>
              <a:rPr lang="en-US" dirty="0"/>
              <a:t>&lt;input type="</a:t>
            </a:r>
            <a:r>
              <a:rPr lang="en-US" dirty="0" err="1"/>
              <a:t>url</a:t>
            </a:r>
            <a:r>
              <a:rPr lang="en-US" dirty="0"/>
              <a:t>"&gt;</a:t>
            </a:r>
          </a:p>
          <a:p>
            <a:r>
              <a:rPr lang="en-US" dirty="0"/>
              <a:t>&lt;input type="week"&gt;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446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Input -  value Attribute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readonly</a:t>
            </a:r>
            <a:r>
              <a:rPr lang="en-US" dirty="0"/>
              <a:t> attribute specifies that the input field is read only</a:t>
            </a:r>
          </a:p>
          <a:p>
            <a:r>
              <a:rPr lang="en-US" dirty="0"/>
              <a:t>The disabled attribute specifies that the input field is disabled. -- A disabled input field is unusable and un-clickable, and its value will not be sent when submitting the form</a:t>
            </a:r>
          </a:p>
          <a:p>
            <a:r>
              <a:rPr lang="en-US" dirty="0"/>
              <a:t>size attribute specifies the size (in characters) for the input field</a:t>
            </a:r>
          </a:p>
          <a:p>
            <a:r>
              <a:rPr lang="en-US" dirty="0" err="1"/>
              <a:t>maxlength</a:t>
            </a:r>
            <a:r>
              <a:rPr lang="en-US" dirty="0"/>
              <a:t> attribute specifies the maximum allowed length for the input field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414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5 Does not end here…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Tags.. More Tags..  </a:t>
            </a:r>
          </a:p>
          <a:p>
            <a:r>
              <a:rPr lang="en-US" dirty="0"/>
              <a:t>More and More of attributes.. </a:t>
            </a:r>
          </a:p>
        </p:txBody>
      </p:sp>
    </p:spTree>
    <p:extLst>
      <p:ext uri="{BB962C8B-B14F-4D97-AF65-F5344CB8AC3E}">
        <p14:creationId xmlns:p14="http://schemas.microsoft.com/office/powerpoint/2010/main" val="227017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4387</Words>
  <Application>Microsoft Office PowerPoint</Application>
  <PresentationFormat>On-screen Show (4:3)</PresentationFormat>
  <Paragraphs>707</Paragraphs>
  <Slides>60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HTML – Part 2 </vt:lpstr>
      <vt:lpstr>Making nested lists</vt:lpstr>
      <vt:lpstr>Building Tables -- data that fits best in a tabular format</vt:lpstr>
      <vt:lpstr>Tags in Tables </vt:lpstr>
      <vt:lpstr>Adding  first row</vt:lpstr>
      <vt:lpstr>Making data rows</vt:lpstr>
      <vt:lpstr>Example </vt:lpstr>
      <vt:lpstr>Spanning rows and columns</vt:lpstr>
      <vt:lpstr>HTML Tables</vt:lpstr>
      <vt:lpstr>Styling your table data</vt:lpstr>
      <vt:lpstr>Simple HTML Tables – Example (2)</vt:lpstr>
      <vt:lpstr>HTML Tables</vt:lpstr>
      <vt:lpstr>Complete HTML Table: Example</vt:lpstr>
      <vt:lpstr>Complete HTML Table Example (2)</vt:lpstr>
      <vt:lpstr>Nested Tables</vt:lpstr>
      <vt:lpstr>Cell Spacing and Padding</vt:lpstr>
      <vt:lpstr>Cell Spacing and Padding – Example (2)</vt:lpstr>
      <vt:lpstr>Column and Row Span</vt:lpstr>
      <vt:lpstr>Column and Row Span –Example (2)</vt:lpstr>
      <vt:lpstr>SIMPLE EXAMPLE</vt:lpstr>
      <vt:lpstr>Sample Code without Borders </vt:lpstr>
      <vt:lpstr>Do the following to this code </vt:lpstr>
      <vt:lpstr>Table Creation-Exercise</vt:lpstr>
      <vt:lpstr>A complex table </vt:lpstr>
      <vt:lpstr>Graphical User Interface Design </vt:lpstr>
      <vt:lpstr>HTML - Forms </vt:lpstr>
      <vt:lpstr>Why Forms?</vt:lpstr>
      <vt:lpstr>What is a form? </vt:lpstr>
      <vt:lpstr>Forms and JavaScript</vt:lpstr>
      <vt:lpstr>Syntax </vt:lpstr>
      <vt:lpstr>The &lt;form&gt; tag</vt:lpstr>
      <vt:lpstr>Forms</vt:lpstr>
      <vt:lpstr>Forms</vt:lpstr>
      <vt:lpstr>Forms</vt:lpstr>
      <vt:lpstr>Forms</vt:lpstr>
      <vt:lpstr>Form Processing</vt:lpstr>
      <vt:lpstr>Form Elements </vt:lpstr>
      <vt:lpstr>Form Elements </vt:lpstr>
      <vt:lpstr>The &lt;input&gt; tag</vt:lpstr>
      <vt:lpstr>TYPE Attribute</vt:lpstr>
      <vt:lpstr>Text input</vt:lpstr>
      <vt:lpstr>Buttons</vt:lpstr>
      <vt:lpstr>Radio buttons</vt:lpstr>
      <vt:lpstr>Labels</vt:lpstr>
      <vt:lpstr>Checkboxes</vt:lpstr>
      <vt:lpstr>Drop-down menu or list</vt:lpstr>
      <vt:lpstr>Hidden fields</vt:lpstr>
      <vt:lpstr>Forms - Example</vt:lpstr>
      <vt:lpstr>Forms</vt:lpstr>
      <vt:lpstr>TYPE Attribute</vt:lpstr>
      <vt:lpstr>TYPE Attribute</vt:lpstr>
      <vt:lpstr>TEXTAREA</vt:lpstr>
      <vt:lpstr>More on Forms  - More input elements </vt:lpstr>
      <vt:lpstr>More form tags … </vt:lpstr>
      <vt:lpstr>Some More ….</vt:lpstr>
      <vt:lpstr>HTML &lt;audio&gt; Element</vt:lpstr>
      <vt:lpstr>&lt;video&gt; tag </vt:lpstr>
      <vt:lpstr>Input Types … a glance </vt:lpstr>
      <vt:lpstr>HTML Input -  value Attribute</vt:lpstr>
      <vt:lpstr>HTML 5 Does not end here…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– Part 2</dc:title>
  <dc:creator>Dr.LATHA PARAMESWARAN</dc:creator>
  <cp:lastModifiedBy>User</cp:lastModifiedBy>
  <cp:revision>33</cp:revision>
  <dcterms:created xsi:type="dcterms:W3CDTF">2006-08-16T00:00:00Z</dcterms:created>
  <dcterms:modified xsi:type="dcterms:W3CDTF">2026-01-29T07:25:38Z</dcterms:modified>
</cp:coreProperties>
</file>